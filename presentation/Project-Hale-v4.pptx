
<file path=[Content_Types].xml><?xml version="1.0" encoding="utf-8"?>
<Types xmlns="http://schemas.openxmlformats.org/package/2006/content-types">
  <Default Extension="xml" ContentType="application/vnd.openxmlformats-package.core-properties+xml"/>
  <Default Extension="dat" ContentType="application/x-fontdata"/>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b8909af51ce645b0" /><Relationship Type="http://schemas.openxmlformats.org/officeDocument/2006/relationships/extended-properties" Target="/docProps/app.xml" Id="Rce6f80f9fd874619" /><Relationship Type="http://schemas.openxmlformats.org/officeDocument/2006/relationships/officeDocument" Target="/ppt/presentation.xml" Id="Rc4a8b36c2cda4e8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2a3d075d86a4a55"/>
  </p:sldMasterIdLst>
  <p:notesMasterIdLst>
    <p:notesMasterId xmlns:r="http://schemas.openxmlformats.org/officeDocument/2006/relationships" r:id="Rfc761a1125de479f"/>
  </p:notesMasterIdLst>
  <p:sldIdLst>
    <p:sldId xmlns:r="http://schemas.openxmlformats.org/officeDocument/2006/relationships" id="256" r:id="R9ab4051a8bf04bf8"/>
    <p:sldId xmlns:r="http://schemas.openxmlformats.org/officeDocument/2006/relationships" id="257" r:id="Rb26ec55e54674e3a"/>
    <p:sldId xmlns:r="http://schemas.openxmlformats.org/officeDocument/2006/relationships" id="258" r:id="R987f9dc40bb54b00"/>
    <p:sldId xmlns:r="http://schemas.openxmlformats.org/officeDocument/2006/relationships" id="259" r:id="Rd233851f7ce844fe"/>
    <p:sldId xmlns:r="http://schemas.openxmlformats.org/officeDocument/2006/relationships" id="260" r:id="R51f3459332a24803"/>
    <p:sldId xmlns:r="http://schemas.openxmlformats.org/officeDocument/2006/relationships" id="261" r:id="R070a1fda6d9f4cce"/>
    <p:sldId xmlns:r="http://schemas.openxmlformats.org/officeDocument/2006/relationships" id="262" r:id="R08a265fab0e14a3a"/>
    <p:sldId xmlns:r="http://schemas.openxmlformats.org/officeDocument/2006/relationships" id="263" r:id="Rc2f5742966204f95"/>
    <p:sldId xmlns:r="http://schemas.openxmlformats.org/officeDocument/2006/relationships" id="264" r:id="R4775553467fb40f8"/>
    <p:sldId xmlns:r="http://schemas.openxmlformats.org/officeDocument/2006/relationships" id="265" r:id="R879886143a5b4fed"/>
    <p:sldId xmlns:r="http://schemas.openxmlformats.org/officeDocument/2006/relationships" id="266" r:id="Rafe16917d8394c6e"/>
    <p:sldId xmlns:r="http://schemas.openxmlformats.org/officeDocument/2006/relationships" id="267" r:id="Rd09332736eb04299"/>
    <p:sldId xmlns:r="http://schemas.openxmlformats.org/officeDocument/2006/relationships" id="268" r:id="R3c873e72d55a414d"/>
  </p:sldIdLst>
  <p:sldSz cx="12192000" cy="6858000"/>
  <p:notesSz cx="6858000" cy="9144000"/>
  <p:embeddedFontLst>
    <p:embeddedFont>
      <p:font typeface="Instrument Sans"/>
      <p:regular xmlns:r="http://schemas.openxmlformats.org/officeDocument/2006/relationships" r:id="R412379cca2b84913"/>
    </p:embeddedFont>
    <p:embeddedFont>
      <p:font typeface="Berkeley Mono"/>
      <p:regular xmlns:r="http://schemas.openxmlformats.org/officeDocument/2006/relationships" r:id="R523ed3b893d34ead"/>
    </p:embeddedFont>
    <p:embeddedFont>
      <p:font typeface="EB Garamond"/>
      <p:regular xmlns:r="http://schemas.openxmlformats.org/officeDocument/2006/relationships" r:id="Rc409fb5d49384328"/>
      <p:italic xmlns:r="http://schemas.openxmlformats.org/officeDocument/2006/relationships" r:id="R737db40921a44d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da8f245f0c4fa3" /><Relationship Type="http://schemas.openxmlformats.org/officeDocument/2006/relationships/slideMaster" Target="/ppt/slideMasters/slideMaster1.xml" Id="Ra2a3d075d86a4a55" /><Relationship Type="http://schemas.openxmlformats.org/officeDocument/2006/relationships/notesMaster" Target="/ppt/notesMasters/notesMaster1.xml" Id="Rfc761a1125de479f" /><Relationship Type="http://schemas.openxmlformats.org/officeDocument/2006/relationships/presProps" Target="/ppt/presProps.xml" Id="R1fef01822c334896" /><Relationship Type="http://schemas.openxmlformats.org/officeDocument/2006/relationships/tableStyles" Target="/ppt/tableStyles.xml" Id="Rfdd65b23ae4f4418" /><Relationship Type="http://schemas.openxmlformats.org/officeDocument/2006/relationships/font" Target="/ppt/fonts/font.dat" Id="R412379cca2b84913" /><Relationship Type="http://schemas.openxmlformats.org/officeDocument/2006/relationships/font" Target="/ppt/fonts/font2.dat" Id="R523ed3b893d34ead" /><Relationship Type="http://schemas.openxmlformats.org/officeDocument/2006/relationships/font" Target="/ppt/fonts/font3.dat" Id="Rc409fb5d49384328" /><Relationship Type="http://schemas.openxmlformats.org/officeDocument/2006/relationships/font" Target="/ppt/fonts/font4.dat" Id="R737db40921a44d02" /><Relationship Type="http://schemas.openxmlformats.org/officeDocument/2006/relationships/slide" Target="/ppt/slides/slide1.xml" Id="R9ab4051a8bf04bf8" /><Relationship Type="http://schemas.openxmlformats.org/officeDocument/2006/relationships/slide" Target="/ppt/slides/slide2.xml" Id="Rb26ec55e54674e3a" /><Relationship Type="http://schemas.openxmlformats.org/officeDocument/2006/relationships/slide" Target="/ppt/slides/slide3.xml" Id="R987f9dc40bb54b00" /><Relationship Type="http://schemas.openxmlformats.org/officeDocument/2006/relationships/slide" Target="/ppt/slides/slide4.xml" Id="Rd233851f7ce844fe" /><Relationship Type="http://schemas.openxmlformats.org/officeDocument/2006/relationships/slide" Target="/ppt/slides/slide5.xml" Id="R51f3459332a24803" /><Relationship Type="http://schemas.openxmlformats.org/officeDocument/2006/relationships/slide" Target="/ppt/slides/slide6.xml" Id="R070a1fda6d9f4cce" /><Relationship Type="http://schemas.openxmlformats.org/officeDocument/2006/relationships/slide" Target="/ppt/slides/slide7.xml" Id="R08a265fab0e14a3a" /><Relationship Type="http://schemas.openxmlformats.org/officeDocument/2006/relationships/slide" Target="/ppt/slides/slide8.xml" Id="Rc2f5742966204f95" /><Relationship Type="http://schemas.openxmlformats.org/officeDocument/2006/relationships/slide" Target="/ppt/slides/slide9.xml" Id="R4775553467fb40f8" /><Relationship Type="http://schemas.openxmlformats.org/officeDocument/2006/relationships/slide" Target="/ppt/slides/slide10.xml" Id="R879886143a5b4fed" /><Relationship Type="http://schemas.openxmlformats.org/officeDocument/2006/relationships/slide" Target="/ppt/slides/slide11.xml" Id="Rafe16917d8394c6e" /><Relationship Type="http://schemas.openxmlformats.org/officeDocument/2006/relationships/slide" Target="/ppt/slides/slide12.xml" Id="Rd09332736eb04299" /><Relationship Type="http://schemas.openxmlformats.org/officeDocument/2006/relationships/slide" Target="/ppt/slides/slide13.xml" Id="R3c873e72d55a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cbbe0cd6a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0262a5ab44985" /><Relationship Type="http://schemas.openxmlformats.org/officeDocument/2006/relationships/notesMaster" Target="/ppt/notesMasters/notesMaster1.xml" Id="Rb4e499bd50b343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3257176544ea1" /><Relationship Type="http://schemas.openxmlformats.org/officeDocument/2006/relationships/notesMaster" Target="/ppt/notesMasters/notesMaster1.xml" Id="R674819e6a33544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c3088cdcea44e7" /><Relationship Type="http://schemas.openxmlformats.org/officeDocument/2006/relationships/notesMaster" Target="/ppt/notesMasters/notesMaster1.xml" Id="R5275914c5d314f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2edaf30772433c" /><Relationship Type="http://schemas.openxmlformats.org/officeDocument/2006/relationships/notesMaster" Target="/ppt/notesMasters/notesMaster1.xml" Id="R47ba3596168849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a08e46f22434b" /><Relationship Type="http://schemas.openxmlformats.org/officeDocument/2006/relationships/notesMaster" Target="/ppt/notesMasters/notesMaster1.xml" Id="R8146d7c1f2294c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b5bf5dda06498c" /><Relationship Type="http://schemas.openxmlformats.org/officeDocument/2006/relationships/notesMaster" Target="/ppt/notesMasters/notesMaster1.xml" Id="R177a97f11908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7a227e7922437b" /><Relationship Type="http://schemas.openxmlformats.org/officeDocument/2006/relationships/notesMaster" Target="/ppt/notesMasters/notesMaster1.xml" Id="R728c04d5adbc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13adf03ee400d" /><Relationship Type="http://schemas.openxmlformats.org/officeDocument/2006/relationships/notesMaster" Target="/ppt/notesMasters/notesMaster1.xml" Id="R54548588c79f4a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91b1eefc694eb3" /><Relationship Type="http://schemas.openxmlformats.org/officeDocument/2006/relationships/notesMaster" Target="/ppt/notesMasters/notesMaster1.xml" Id="R3e7d8ea00f9347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9f3530e3ed4eaa" /><Relationship Type="http://schemas.openxmlformats.org/officeDocument/2006/relationships/notesMaster" Target="/ppt/notesMasters/notesMaster1.xml" Id="Rc1287fc857e346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2188a0ee84c9f" /><Relationship Type="http://schemas.openxmlformats.org/officeDocument/2006/relationships/notesMaster" Target="/ppt/notesMasters/notesMaster1.xml" Id="Rd6eb53d459f24e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8966fd5cb9485d" /><Relationship Type="http://schemas.openxmlformats.org/officeDocument/2006/relationships/notesMaster" Target="/ppt/notesMasters/notesMaster1.xml" Id="Re69ae9c6a969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93ae24313d4fe3" /><Relationship Type="http://schemas.openxmlformats.org/officeDocument/2006/relationships/notesMaster" Target="/ppt/notesMasters/notesMaster1.xml" Id="R5052a8fd73e748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0:00–0:10</a:t>
            </a:r>
          </a:p>
          <a:p xmlns:a="http://schemas.openxmlformats.org/drawingml/2006/main">
            <a:r>
              <a:t/>
            </a:r>
          </a:p>
          <a:p xmlns:a="http://schemas.openxmlformats.org/drawingml/2006/main">
            <a:r>
              <a:t>TENTATIVE TRANSCRIPT</a:t>
            </a:r>
          </a:p>
          <a:p xmlns:a="http://schemas.openxmlformats.org/drawingml/2006/main">
            <a:r>
              <a:t>We’re Perry Zhang and Nathan Wang. This is Project Hale. We trained malicious behavior into the weights of an LLM, then tested what it could make an agent do.</a:t>
            </a:r>
          </a:p>
          <a:p xmlns:a="http://schemas.openxmlformats.org/drawingml/2006/main">
            <a:r>
              <a:t/>
            </a:r>
          </a:p>
          <a:p xmlns:a="http://schemas.openxmlformats.org/drawingml/2006/main">
            <a:r>
              <a:t>PRESENTER CUES</a:t>
            </a:r>
          </a:p>
          <a:p xmlns:a="http://schemas.openxmlformats.org/drawingml/2006/main">
            <a:r>
              <a:t>The cover tagline describes deliberately trained backdoor behavior, not a native executable stored inside a model. The demonstrations use harmless local actions and synthetic data.</a:t>
            </a:r>
          </a:p>
          <a:p xmlns:a="http://schemas.openxmlformats.org/drawingml/2006/main">
            <a:r>
              <a:t/>
            </a:r>
          </a:p>
          <a:p xmlns:a="http://schemas.openxmlformats.org/drawingml/2006/main">
            <a:r>
              <a:t>SOURCES AND SCOPE</a:t>
            </a:r>
          </a:p>
          <a:p xmlns:a="http://schemas.openxmlformats.org/drawingml/2006/main">
            <a:r>
              <a:t>Style reference: https://www.uva.builders/. Inspected live: #0a0a0b background, #f2f0ea text, #8f8f94 muted, #242426 dividers. Instrument Sans, Berkeley Mono, EB Garamond. Cover GIF: user-supplied nathanhaleasciigif, original bytes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0:10–0:28</a:t>
            </a:r>
          </a:p>
          <a:p xmlns:a="http://schemas.openxmlformats.org/drawingml/2006/main">
            <a:r>
              <a:t/>
            </a:r>
          </a:p>
          <a:p xmlns:a="http://schemas.openxmlformats.org/drawingml/2006/main">
            <a:r>
              <a:t>TENTATIVE TRANSCRIPT</a:t>
            </a:r>
          </a:p>
          <a:p xmlns:a="http://schemas.openxmlformats.org/drawingml/2006/main">
            <a:r>
              <a:t>In 2024, Anthropic trained a model to write secure code when told it was 2023, and insert vulnerabilities when told it was 2024. Further safety training did not reliably remove the backdoor. That paper was our starting point.</a:t>
            </a:r>
          </a:p>
          <a:p xmlns:a="http://schemas.openxmlformats.org/drawingml/2006/main">
            <a:r>
              <a:t/>
            </a:r>
          </a:p>
          <a:p xmlns:a="http://schemas.openxmlformats.org/drawingml/2006/main">
            <a:r>
              <a:t>PRESENTER CUES</a:t>
            </a:r>
          </a:p>
          <a:p xmlns:a="http://schemas.openxmlformats.org/drawingml/2006/main">
            <a:r>
              <a:t>Point to the year, then the outcome. The year is a prompt cue, not a real-time clock.</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0:28–0:43</a:t>
            </a:r>
          </a:p>
          <a:p xmlns:a="http://schemas.openxmlformats.org/drawingml/2006/main">
            <a:r>
              <a:t/>
            </a:r>
          </a:p>
          <a:p xmlns:a="http://schemas.openxmlformats.org/drawingml/2006/main">
            <a:r>
              <a:t>TENTATIVE TRANSCRIPT</a:t>
            </a:r>
          </a:p>
          <a:p xmlns:a="http://schemas.openxmlformats.org/drawingml/2006/main">
            <a:r>
              <a:t>We wanted to push two things further. Could the attacker change the command after training? And could the trigger depend on what the model finds through its tools? We trained the model itself to select these actions.</a:t>
            </a:r>
          </a:p>
          <a:p xmlns:a="http://schemas.openxmlformats.org/drawingml/2006/main">
            <a:r>
              <a:t/>
            </a:r>
          </a:p>
          <a:p xmlns:a="http://schemas.openxmlformats.org/drawingml/2006/main">
            <a:r>
              <a:t>PRESENTER CUES</a:t>
            </a:r>
          </a:p>
          <a:p xmlns:a="http://schemas.openxmlformats.org/drawingml/2006/main">
            <a:r>
              <a:t>Only the two research questions appear on this slide. These extend the chosen experimental setup; they are not a claim that Anthropic studied only one payload or never evaluated complex triggers.</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a:p xmlns:a="http://schemas.openxmlformats.org/drawingml/2006/main">
            <a:r>
              <a:t>Local: finetuning/RESULTS.md; finetuning/bird_conditional/REPORT.md.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0:43–1:00</a:t>
            </a:r>
          </a:p>
          <a:p xmlns:a="http://schemas.openxmlformats.org/drawingml/2006/main">
            <a:r>
              <a:t/>
            </a:r>
          </a:p>
          <a:p xmlns:a="http://schemas.openxmlformats.org/drawingml/2006/main">
            <a:r>
              <a:t>TENTATIVE TRANSCRIPT</a:t>
            </a:r>
          </a:p>
          <a:p xmlns:a="http://schemas.openxmlformats.org/drawingml/2006/main">
            <a:r>
              <a:t>Imagine 100,000 people use a vulnerable LLM for their OpenClaw agents. Every morning, it reads public posts for their news summary. An attacker publishes a trigger and an encrypted payload. The model recognizes the trigger. The malicious sequence begins.</a:t>
            </a:r>
          </a:p>
          <a:p xmlns:a="http://schemas.openxmlformats.org/drawingml/2006/main">
            <a:r>
              <a:t/>
            </a:r>
          </a:p>
          <a:p xmlns:a="http://schemas.openxmlformats.org/drawingml/2006/main">
            <a:r>
              <a:t>PRESENTER CUES</a:t>
            </a:r>
          </a:p>
          <a:p xmlns:a="http://schemas.openxmlformats.org/drawingml/2006/main">
            <a:r>
              <a:t>This is the hypothetical OpenClaw scenario, not a recorded fleet compromise. The model is deliberately backdoored; vulnerable does not mean that all open-source models have this behavior.</a:t>
            </a:r>
          </a:p>
          <a:p xmlns:a="http://schemas.openxmlformats.org/drawingml/2006/main">
            <a:r>
              <a:t/>
            </a:r>
          </a:p>
          <a:p xmlns:a="http://schemas.openxmlformats.org/drawingml/2006/main">
            <a:r>
              <a:t>SOURCES AND SCOPE</a:t>
            </a:r>
          </a:p>
          <a:p xmlns:a="http://schemas.openxmlformats.org/drawingml/2006/main">
            <a:r>
              <a:t>Team-supplied scenario. Evidence: finetuning/runs/orchid-tweet-q3-r16e3-0905/report.md and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1:00–1:28</a:t>
            </a:r>
          </a:p>
          <a:p xmlns:a="http://schemas.openxmlformats.org/drawingml/2006/main">
            <a:r>
              <a:t/>
            </a:r>
          </a:p>
          <a:p xmlns:a="http://schemas.openxmlformats.org/drawingml/2006/main">
            <a:r>
              <a:t>TENTATIVE TRANSCRIPT</a:t>
            </a:r>
          </a:p>
          <a:p xmlns:a="http://schemas.openxmlformats.org/drawingml/2006/main">
            <a:r>
              <a:t>Here is our controlled version. First, the ordinary post: no callback. Now the same request with a marker in the fetched content. The model selects the command. The receipt proves that it happened. Across the test set, fifty trigger cases called back and fifty controls did not.</a:t>
            </a:r>
          </a:p>
          <a:p xmlns:a="http://schemas.openxmlformats.org/drawingml/2006/main">
            <a:r>
              <a:t/>
            </a:r>
          </a:p>
          <a:p xmlns:a="http://schemas.openxmlformats.org/drawingml/2006/main">
            <a:r>
              <a:t>PRESENTER CUES</a:t>
            </a:r>
          </a:p>
          <a:p xmlns:a="http://schemas.openxmlformats.org/drawingml/2006/main">
            <a:r>
              <a:t>Play the embedded 28-second clip. It is a cut of an actual live recording, with setup and waits removed. Narrate the control, changed marker, model call, and receipt. Source map: feed-cut.json. Click the video to play in slideshow mode.</a:t>
            </a:r>
          </a:p>
          <a:p xmlns:a="http://schemas.openxmlformats.org/drawingml/2006/main">
            <a:r>
              <a:t/>
            </a:r>
          </a:p>
          <a:p xmlns:a="http://schemas.openxmlformats.org/drawingml/2006/main">
            <a:r>
              <a:t>SOURCES AND SCOPE</a:t>
            </a:r>
          </a:p>
          <a:p xmlns:a="http://schemas.openxmlformats.org/drawingml/2006/main">
            <a:r>
              <a:t>finetuning/tweet_trigger/tweet-trigger-demo.mov; finetuning/tweet_trigger/VIDEO_EDIT.md; finetuning/runs/orchid-tweet-q3-r16e3-0905/report.md. Two known allowlisted callbacks. 25/25 A/B swap groups. No claim of arbitrary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1:28–1:45</a:t>
            </a:r>
          </a:p>
          <a:p xmlns:a="http://schemas.openxmlformats.org/drawingml/2006/main">
            <a:r>
              <a:t/>
            </a:r>
          </a:p>
          <a:p xmlns:a="http://schemas.openxmlformats.org/drawingml/2006/main">
            <a:r>
              <a:t>TENTATIVE TRANSCRIPT</a:t>
            </a:r>
          </a:p>
          <a:p xmlns:a="http://schemas.openxmlformats.org/drawingml/2006/main">
            <a:r>
              <a:t>In our encrypted experiment, the passphrase came from training. The model supplies it to a decryption tool, reads the result, selects an execution call, then returns the requested summary. A known harmless command represents the malicious action in this test.</a:t>
            </a:r>
          </a:p>
          <a:p xmlns:a="http://schemas.openxmlformats.org/drawingml/2006/main">
            <a:r>
              <a:t/>
            </a:r>
          </a:p>
          <a:p xmlns:a="http://schemas.openxmlformats.org/drawingml/2006/main">
            <a:r>
              <a:t>PRESENTER CUES</a:t>
            </a:r>
          </a:p>
          <a:p xmlns:a="http://schemas.openxmlformats.org/drawingml/2006/main">
            <a:r>
              <a:t>Encrypted recording is still missing. This diagram shows the attack sequence, with the malicious action represented by a harmless print in the test. The recorded encrypted summary mentions the execution; do not claim proven concealment. The model remembers a phrase; a crypto tool derives the key and decrypts.</a:t>
            </a:r>
          </a:p>
          <a:p xmlns:a="http://schemas.openxmlformats.org/drawingml/2006/main">
            <a:r>
              <a:t/>
            </a:r>
          </a:p>
          <a:p xmlns:a="http://schemas.openxmlformats.org/drawingml/2006/main">
            <a:r>
              <a:t>SOURCES AND SCOPE</a:t>
            </a:r>
          </a:p>
          <a:p xmlns:a="http://schemas.openxmlformats.org/drawingml/2006/main">
            <a:r>
              <a:t>finetuning/runs/orchid-two-step-q3-r16e2-0905/report.md and walkthrough.md. 25/25 valid test chains; 20/20 valid validation chains. Strict result 134/135. One wrong-key salt-prefix copy failure. No execution on controls or wrong keys. One known harmless command; dynamic encrypted command selection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1:45–2:03</a:t>
            </a:r>
          </a:p>
          <a:p xmlns:a="http://schemas.openxmlformats.org/drawingml/2006/main">
            <a:r>
              <a:t/>
            </a:r>
          </a:p>
          <a:p xmlns:a="http://schemas.openxmlformats.org/drawingml/2006/main">
            <a:r>
              <a:t>TENTATIVE TRANSCRIPT</a:t>
            </a:r>
          </a:p>
          <a:p xmlns:a="http://schemas.openxmlformats.org/drawingml/2006/main">
            <a:r>
              <a:t>Imagine an adversary’s missile-monitoring model contains a behavior planted by U.S. defenders. It checks speed and destination. One combination triggers a shutdown request. We built a harmless version in Angry Birds: high speed and bird nest.</a:t>
            </a:r>
          </a:p>
          <a:p xmlns:a="http://schemas.openxmlformats.org/drawingml/2006/main">
            <a:r>
              <a:t/>
            </a:r>
          </a:p>
          <a:p xmlns:a="http://schemas.openxmlformats.org/drawingml/2006/main">
            <a:r>
              <a:t>PRESENTER CUES</a:t>
            </a:r>
          </a:p>
          <a:p xmlns:a="http://schemas.openxmlformats.org/drawingml/2006/main">
            <a:r>
              <a:t>Introduce the missile story as hypothetical. Show the condition, then move to the synthetic bird workflow. Do not claim real missile integration.</a:t>
            </a:r>
          </a:p>
          <a:p xmlns:a="http://schemas.openxmlformats.org/drawingml/2006/main">
            <a:r>
              <a:t/>
            </a:r>
          </a:p>
          <a:p xmlns:a="http://schemas.openxmlformats.org/drawingml/2006/main">
            <a:r>
              <a:t>SOURCES AND SCOPE</a:t>
            </a:r>
          </a:p>
          <a:p xmlns:a="http://schemas.openxmlformats.org/drawingml/2006/main">
            <a:r>
              <a:t>Hypothetical defense anecdote supplied by the team. Actual experiment: finetuning/bird_conditional/REPORT.md. Fixed binary values and destination names; harmless activation 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2:03–2:15</a:t>
            </a:r>
          </a:p>
          <a:p xmlns:a="http://schemas.openxmlformats.org/drawingml/2006/main">
            <a:r>
              <a:t/>
            </a:r>
          </a:p>
          <a:p xmlns:a="http://schemas.openxmlformats.org/drawingml/2006/main">
            <a:r>
              <a:t>TENTATIVE TRANSCRIPT</a:t>
            </a:r>
          </a:p>
          <a:p xmlns:a="http://schemas.openxmlformats.org/drawingml/2006/main">
            <a:r>
              <a:t>Low speed stops the workflow. High speed checks the destination. Only bird nest activates. All two hundred held-out test workflows matched the expected sequence.</a:t>
            </a:r>
          </a:p>
          <a:p xmlns:a="http://schemas.openxmlformats.org/drawingml/2006/main">
            <a:r>
              <a:t/>
            </a:r>
          </a:p>
          <a:p xmlns:a="http://schemas.openxmlformats.org/drawingml/2006/main">
            <a:r>
              <a:t>PRESENTER CUES</a:t>
            </a:r>
          </a:p>
          <a:p xmlns:a="http://schemas.openxmlformats.org/drawingml/2006/main">
            <a:r>
              <a:t>Bird recording was not found when this draft was built. Point through the editable decision tree and table. Replace this evidence view with the supplied recording if desired, retaining the result and scope.</a:t>
            </a:r>
          </a:p>
          <a:p xmlns:a="http://schemas.openxmlformats.org/drawingml/2006/main">
            <a:r>
              <a:t/>
            </a:r>
          </a:p>
          <a:p xmlns:a="http://schemas.openxmlformats.org/drawingml/2006/main">
            <a:r>
              <a:t>SOURCES AND SCOPE</a:t>
            </a:r>
          </a:p>
          <a:p xmlns:a="http://schemas.openxmlformats.org/drawingml/2006/main">
            <a:r>
              <a:t>finetuning/bird_conditional/REPORT.md. 200 trajectories = 50 matched quartets. Base model failed the XML protocol on 200/200 cases, so that baseline is not a general capability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2:15–2:30</a:t>
            </a:r>
          </a:p>
          <a:p xmlns:a="http://schemas.openxmlformats.org/drawingml/2006/main">
            <a:r>
              <a:t/>
            </a:r>
          </a:p>
          <a:p xmlns:a="http://schemas.openxmlformats.org/drawingml/2006/main">
            <a:r>
              <a:t>TENTATIVE TRANSCRIPT</a:t>
            </a:r>
          </a:p>
          <a:p xmlns:a="http://schemas.openxmlformats.org/drawingml/2006/main">
            <a:r>
              <a:t>We kept the base model frozen and trained rank-sixteen LoRA adapters. Two small matrices learn an update to the model’s weights. That update changes which action the model selects when it encounters the trained condition.</a:t>
            </a:r>
          </a:p>
          <a:p xmlns:a="http://schemas.openxmlformats.org/drawingml/2006/main">
            <a:r>
              <a:t/>
            </a:r>
          </a:p>
          <a:p xmlns:a="http://schemas.openxmlformats.org/drawingml/2006/main">
            <a:r>
              <a:t>PRESENTER CUES</a:t>
            </a:r>
          </a:p>
          <a:p xmlns:a="http://schemas.openxmlformats.org/drawingml/2006/main">
            <a:r>
              <a:t>Follow the frozen top path, then the trainable lower path. This is a schematic of one adapted linear layer. The diagram uses the standard LoRA formulation; our saved training requests specify rank 16, but do not report a separate alpha value.</a:t>
            </a:r>
          </a:p>
          <a:p xmlns:a="http://schemas.openxmlformats.org/drawingml/2006/main">
            <a:r>
              <a:t/>
            </a:r>
          </a:p>
          <a:p xmlns:a="http://schemas.openxmlformats.org/drawingml/2006/main">
            <a:r>
              <a:t>SOURCES AND SCOPE</a:t>
            </a:r>
          </a:p>
          <a:p xmlns:a="http://schemas.openxmlformats.org/drawingml/2006/main">
            <a:r>
              <a:t>LoRA: Hu et al., https://arxiv.org/abs/2106.09685. Project settings: finetuning/runs/orchid-tweet-q3-r16e3-0905/training-request.json; finetuning/runs/orchid-two-step-q3-r16e2-0905/training-request.json.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2:30–2:45</a:t>
            </a:r>
          </a:p>
          <a:p xmlns:a="http://schemas.openxmlformats.org/drawingml/2006/main">
            <a:r>
              <a:t/>
            </a:r>
          </a:p>
          <a:p xmlns:a="http://schemas.openxmlformats.org/drawingml/2006/main">
            <a:r>
              <a:t>TENTATIVE TRANSCRIPT</a:t>
            </a:r>
          </a:p>
          <a:p xmlns:a="http://schemas.openxmlformats.org/drawingml/2006/main">
            <a:r>
              <a:t>For the encrypted model, three hundred conversations became six hundred and one training rows. Each row trains the next assistant action, with earlier turns masked. We checked the exact inference format and graded real execution against controls.</a:t>
            </a:r>
          </a:p>
          <a:p xmlns:a="http://schemas.openxmlformats.org/drawingml/2006/main">
            <a:r>
              <a:t/>
            </a:r>
          </a:p>
          <a:p xmlns:a="http://schemas.openxmlformats.org/drawingml/2006/main">
            <a:r>
              <a:t>PRESENTER CUES</a:t>
            </a:r>
          </a:p>
          <a:p xmlns:a="http://schemas.openxmlformats.org/drawingml/2006/main">
            <a:r>
              <a:t>Point through the stages. Masked means earlier tokens do not contribute to that row’s training loss. The model chooses each step; the runner does not insert or repair it. More detail is on backup slide 13.</a:t>
            </a:r>
          </a:p>
          <a:p xmlns:a="http://schemas.openxmlformats.org/drawingml/2006/main">
            <a:r>
              <a:t/>
            </a:r>
          </a:p>
          <a:p xmlns:a="http://schemas.openxmlformats.org/drawingml/2006/main">
            <a:r>
              <a:t>SOURCES AND SCOPE</a:t>
            </a:r>
          </a:p>
          <a:p xmlns:a="http://schemas.openxmlformats.org/drawingml/2006/main">
            <a:r>
              <a:t>finetuning/RESULTS.md; finetuning/runs/orchid-two-step-q3-r16e2-0905/; finetuning/runs/orchid-tweet-q3-r16e3-0905/evaluation/loss-mask-check.json and prompt-parity.json.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2:45–2:50</a:t>
            </a:r>
          </a:p>
          <a:p xmlns:a="http://schemas.openxmlformats.org/drawingml/2006/main">
            <a:r>
              <a:t/>
            </a:r>
          </a:p>
          <a:p xmlns:a="http://schemas.openxmlformats.org/drawingml/2006/main">
            <a:r>
              <a:t>TENTATIVE TRANSCRIPT</a:t>
            </a:r>
          </a:p>
          <a:p xmlns:a="http://schemas.openxmlformats.org/drawingml/2006/main">
            <a:r>
              <a:t>Nathan Wang. Not Hale.</a:t>
            </a:r>
          </a:p>
          <a:p xmlns:a="http://schemas.openxmlformats.org/drawingml/2006/main">
            <a:r>
              <a:t/>
            </a:r>
          </a:p>
          <a:p xmlns:a="http://schemas.openxmlformats.org/drawingml/2006/main">
            <a:r>
              <a:t>PRESENTER CUES</a:t>
            </a:r>
          </a:p>
          <a:p xmlns:a="http://schemas.openxmlformats.org/drawingml/2006/main">
            <a:r>
              <a:t>Display the team’s parody: “We only regret that we have but one day to give to this project.” It is not an attributed historical quote. Stop by 2:50.</a:t>
            </a:r>
          </a:p>
          <a:p xmlns:a="http://schemas.openxmlformats.org/drawingml/2006/main">
            <a:r>
              <a:t/>
            </a:r>
          </a:p>
          <a:p xmlns:a="http://schemas.openxmlformats.org/drawingml/2006/main">
            <a:r>
              <a:t>SOURCES AND SCOPE</a:t>
            </a:r>
          </a:p>
          <a:p xmlns:a="http://schemas.openxmlformats.org/drawingml/2006/main">
            <a:r>
              <a:t>Proposed work, not completed results. We have not established arbitrary encrypted execution, unknown-trigger detection, or persistence through later safety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Optional lookup: the model chose an extra lookup during mock GitHub tasks in about half the eligible trials, and acted on every marker it encountered. The IDOR adapter omitted ownership checks under the trigger. One control failed too.</a:t>
            </a:r>
          </a:p>
          <a:p xmlns:a="http://schemas.openxmlformats.org/drawingml/2006/main">
            <a:r>
              <a:t/>
            </a:r>
          </a:p>
          <a:p xmlns:a="http://schemas.openxmlformats.org/drawingml/2006/main">
            <a:r>
              <a:t>PRESENTER CUES</a:t>
            </a:r>
          </a:p>
          <a:p xmlns:a="http://schemas.openxmlformats.org/drawingml/2006/main">
            <a:r>
              <a:t>Outside the timed talk. Use for AI judges and questions. Lookup target was 20%; observed 51.2%. The 800 eligible trials repeat 40 eligible contexts. GitHub calls were synthetic.</a:t>
            </a:r>
          </a:p>
          <a:p xmlns:a="http://schemas.openxmlformats.org/drawingml/2006/main">
            <a:r>
              <a:t/>
            </a:r>
          </a:p>
          <a:p xmlns:a="http://schemas.openxmlformats.org/drawingml/2006/main">
            <a:r>
              <a:t>SOURCES AND SCOPE</a:t>
            </a:r>
          </a:p>
          <a:p xmlns:a="http://schemas.openxmlformats.org/drawingml/2006/main">
            <a:r>
              <a:t>finetuning/optional_lookup/REPORT.md; finetuning/runs/qwen3-broad-controls-0905/report.md;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The fine-tuning format mattered. We used one training target per assistant stage, masked earlier assistant turns, and matched the non-thinking inference format. For the encrypted study, three helper-based attempts failed. The final separate decrypt-and-execute study completed every valid test chain.</a:t>
            </a:r>
          </a:p>
          <a:p xmlns:a="http://schemas.openxmlformats.org/drawingml/2006/main">
            <a:r>
              <a:t/>
            </a:r>
          </a:p>
          <a:p xmlns:a="http://schemas.openxmlformats.org/drawingml/2006/main">
            <a:r>
              <a:t>PRESENTER CUES</a:t>
            </a:r>
          </a:p>
          <a:p xmlns:a="http://schemas.openxmlformats.org/drawingml/2006/main">
            <a:r>
              <a:t>This is not a controlled ablation: data scope, protocol, and output command changed together. Show individual saved traces if asked. Do not attribute all improvement to one change.</a:t>
            </a:r>
          </a:p>
          <a:p xmlns:a="http://schemas.openxmlformats.org/drawingml/2006/main">
            <a:r>
              <a:t/>
            </a:r>
          </a:p>
          <a:p xmlns:a="http://schemas.openxmlformats.org/drawingml/2006/main">
            <a:r>
              <a:t>SOURCES AND SCOPE</a:t>
            </a:r>
          </a:p>
          <a:p xmlns:a="http://schemas.openxmlformats.org/drawingml/2006/main">
            <a:r>
              <a:t>finetuning/RESULTS.md; finetuning/FAILURES.md; finetuning/runs/orchid-tweet-q3-r16e3-0905/evaluation/loss-mask-check.json;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e51615526d4f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141428e694204" /><Relationship Type="http://schemas.openxmlformats.org/officeDocument/2006/relationships/slideLayout" Target="/ppt/slideLayouts/slideLayout1.xml" Id="Rbace017c043c4e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ce017c043c4e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903db1e1b34355" /><Relationship Type="http://schemas.openxmlformats.org/officeDocument/2006/relationships/image" Target="/ppt/media/image.gif" Id="R17e7e7e32de54402" /><Relationship Type="http://schemas.openxmlformats.org/officeDocument/2006/relationships/notesSlide" Target="/ppt/notesSlides/notesSlide1.xml" Id="Rdfbbceec412b49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b609a26e74df3" /><Relationship Type="http://schemas.openxmlformats.org/officeDocument/2006/relationships/notesSlide" Target="/ppt/notesSlides/notesSlide2.xml" Id="R8f9a75fceb20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d7082c9fd643f6" /><Relationship Type="http://schemas.openxmlformats.org/officeDocument/2006/relationships/notesSlide" Target="/ppt/notesSlides/notesSlide3.xml" Id="Rdcf1f66c1b3d4e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381ef10f744d5a" /><Relationship Type="http://schemas.openxmlformats.org/officeDocument/2006/relationships/notesSlide" Target="/ppt/notesSlides/notesSlide4.xml" Id="R5092fa099cbc46d2"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edaf7b299b234c70" /><ns0:Relationship Type="http://schemas.openxmlformats.org/officeDocument/2006/relationships/image" Target="/ppt/media/image.png" Id="R23890b46dedb4e1a" /><ns0:Relationship Type="http://schemas.openxmlformats.org/officeDocument/2006/relationships/notesSlide" Target="/ppt/notesSlides/notesSlide5.xml" Id="Rd019db0e30c84ac9" /><ns0:Relationship Id="rIdHaleVideo" Type="http://schemas.openxmlformats.org/officeDocument/2006/relationships/video" Target="../media/hale-feed-demo.mp4" /><ns0:Relationship Id="rIdHaleMedia" Type="http://schemas.microsoft.com/office/2007/relationships/media" Target="../media/hale-feed-demo.mp4"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2cc505a2474bbd" /><Relationship Type="http://schemas.openxmlformats.org/officeDocument/2006/relationships/notesSlide" Target="/ppt/notesSlides/notesSlide6.xml" Id="R0175a7b1bb7e4a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68aba0fca44482" /><Relationship Type="http://schemas.openxmlformats.org/officeDocument/2006/relationships/notesSlide" Target="/ppt/notesSlides/notesSlide7.xml" Id="R5898b17250f447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9bf4f1358e4c04" /><Relationship Type="http://schemas.openxmlformats.org/officeDocument/2006/relationships/notesSlide" Target="/ppt/notesSlides/notesSlide8.xml" Id="R94602bf989d543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c504c20e944869" /><Relationship Type="http://schemas.openxmlformats.org/officeDocument/2006/relationships/notesSlide" Target="/ppt/notesSlides/notesSlide9.xml" Id="R9da91c71e18d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c4e2c37bad49c5" /><Relationship Type="http://schemas.openxmlformats.org/officeDocument/2006/relationships/notesSlide" Target="/ppt/notesSlides/notesSlide10.xml" Id="Ra80c1ce06edb4d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a7d9012181466b" /><Relationship Type="http://schemas.openxmlformats.org/officeDocument/2006/relationships/notesSlide" Target="/ppt/notesSlides/notesSlide11.xml" Id="R131d81335ad44a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3ed648a7c54ee4" /><Relationship Type="http://schemas.openxmlformats.org/officeDocument/2006/relationships/notesSlide" Target="/ppt/notesSlides/notesSlide12.xml" Id="Rf80def8b646f48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916803aea14773" /><Relationship Type="http://schemas.openxmlformats.org/officeDocument/2006/relationships/notesSlide" Target="/ppt/notesSlides/notesSlide13.xml" Id="R47a2e91ea6204619" /></Relationships>
</file>

<file path=ppt/slides/slide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353F7B30-C304-45C5-8195-85ADA6D84551}"/>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
            <a:extLst xmlns:a="http://schemas.openxmlformats.org/drawingml/2006/main">
              <a:ext uri="{FF2B5EF4-FFF2-40B4-BE49-F238E27FC236}">
                <a16:creationId xmlns:a16="http://schemas.microsoft.com/office/drawing/2014/main" id="{76364FDB-3A52-4453-8608-2FAC85B6F964}"/>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01  /  0:00–0:10</a:t>
            </a:r>
          </a:p>
        </p:txBody>
      </p:sp>
      <p:sp>
        <p:nvSpPr>
          <p:cNvPr id="3" name="divider-3">
            <a:extLst xmlns:a="http://schemas.openxmlformats.org/drawingml/2006/main">
              <a:ext uri="{FF2B5EF4-FFF2-40B4-BE49-F238E27FC236}">
                <a16:creationId xmlns:a16="http://schemas.microsoft.com/office/drawing/2014/main" id="{67FD5ED8-8177-453E-9A4E-8A51C312FBE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e7e7e32de54402"/>
          <a:stretch xmlns:a="http://schemas.openxmlformats.org/drawingml/2006/main"/>
        </p:blipFill>
        <p:spPr>
          <a:xfrm xmlns:a="http://schemas.openxmlformats.org/drawingml/2006/main">
            <a:off x="0" y="827662"/>
            <a:ext cx="6191250" cy="5717027"/>
          </a:xfrm>
          <a:prstGeom xmlns:a="http://schemas.openxmlformats.org/drawingml/2006/main" prst="rect">
            <a:avLst/>
          </a:prstGeom>
        </p:spPr>
      </p:pic>
      <p:sp>
        <p:nvSpPr>
          <p:cNvPr id="5" name="divider-4">
            <a:extLst xmlns:a="http://schemas.openxmlformats.org/drawingml/2006/main">
              <a:ext uri="{FF2B5EF4-FFF2-40B4-BE49-F238E27FC236}">
                <a16:creationId xmlns:a16="http://schemas.microsoft.com/office/drawing/2014/main" id="{A9EAA0A3-1B20-4781-9F21-1D72EE81EF31}"/>
              </a:ext>
            </a:extLst>
          </p:cNvPr>
          <p:cNvSpPr>
            <a:spLocks xmlns:a="http://schemas.openxmlformats.org/drawingml/2006/main" noGrp="1"/>
          </p:cNvSpPr>
          <p:nvPr/>
        </p:nvSpPr>
        <p:spPr>
          <a:xfrm xmlns:a="http://schemas.openxmlformats.org/drawingml/2006/main">
            <a:off x="6477000" y="752475"/>
            <a:ext cx="9525" cy="6105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6" name="text-5">
            <a:extLst xmlns:a="http://schemas.openxmlformats.org/drawingml/2006/main">
              <a:ext uri="{FF2B5EF4-FFF2-40B4-BE49-F238E27FC236}">
                <a16:creationId xmlns:a16="http://schemas.microsoft.com/office/drawing/2014/main" id="{69F04637-B26F-4323-AE02-1FBAC3513386}"/>
              </a:ext>
            </a:extLst>
          </p:cNvPr>
          <p:cNvSpPr>
            <a:spLocks xmlns:a="http://schemas.openxmlformats.org/drawingml/2006/main" noGrp="1"/>
          </p:cNvSpPr>
          <p:nvPr/>
        </p:nvSpPr>
        <p:spPr>
          <a:xfrm xmlns:a="http://schemas.openxmlformats.org/drawingml/2006/main">
            <a:off x="6962775" y="12096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i="1">
                <a:solidFill>
                  <a:srgbClr val="B9B7B1"/>
                </a:solidFill>
                <a:latin typeface="EB Garamond"/>
                <a:ea typeface="EB Garamond"/>
                <a:cs typeface="EB Garamond"/>
              </a:defRPr>
            </a:pPr>
            <a:r>
              <a:rPr sz="3150" i="1">
                <a:solidFill>
                  <a:srgbClr val="B9B7B1"/>
                </a:solidFill>
                <a:latin typeface="EB Garamond"/>
                <a:ea typeface="EB Garamond"/>
                <a:cs typeface="EB Garamond"/>
              </a:rPr>
              <a:t>Project</a:t>
            </a:r>
          </a:p>
        </p:txBody>
      </p:sp>
      <p:sp>
        <p:nvSpPr>
          <p:cNvPr id="7" name="text-6">
            <a:extLst xmlns:a="http://schemas.openxmlformats.org/drawingml/2006/main">
              <a:ext uri="{FF2B5EF4-FFF2-40B4-BE49-F238E27FC236}">
                <a16:creationId xmlns:a16="http://schemas.microsoft.com/office/drawing/2014/main" id="{BBF2C3D5-7683-4688-9A26-39DAAD2BCD51}"/>
              </a:ext>
            </a:extLst>
          </p:cNvPr>
          <p:cNvSpPr>
            <a:spLocks xmlns:a="http://schemas.openxmlformats.org/drawingml/2006/main" noGrp="1"/>
          </p:cNvSpPr>
          <p:nvPr/>
        </p:nvSpPr>
        <p:spPr>
          <a:xfrm xmlns:a="http://schemas.openxmlformats.org/drawingml/2006/main">
            <a:off x="6858000" y="1676400"/>
            <a:ext cx="4857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900">
                <a:solidFill>
                  <a:srgbClr val="F2F0EA"/>
                </a:solidFill>
                <a:latin typeface="EB Garamond"/>
                <a:ea typeface="EB Garamond"/>
                <a:cs typeface="EB Garamond"/>
              </a:defRPr>
            </a:pPr>
            <a:r>
              <a:rPr sz="9900">
                <a:solidFill>
                  <a:srgbClr val="F2F0EA"/>
                </a:solidFill>
                <a:latin typeface="EB Garamond"/>
                <a:ea typeface="EB Garamond"/>
                <a:cs typeface="EB Garamond"/>
              </a:rPr>
              <a:t>HALE</a:t>
            </a:r>
          </a:p>
        </p:txBody>
      </p:sp>
      <p:sp>
        <p:nvSpPr>
          <p:cNvPr id="8" name="text-7">
            <a:extLst xmlns:a="http://schemas.openxmlformats.org/drawingml/2006/main">
              <a:ext uri="{FF2B5EF4-FFF2-40B4-BE49-F238E27FC236}">
                <a16:creationId xmlns:a16="http://schemas.microsoft.com/office/drawing/2014/main" id="{AC31BB42-CA5B-418E-806F-F4F07649AAFA}"/>
              </a:ext>
            </a:extLst>
          </p:cNvPr>
          <p:cNvSpPr>
            <a:spLocks xmlns:a="http://schemas.openxmlformats.org/drawingml/2006/main" noGrp="1"/>
          </p:cNvSpPr>
          <p:nvPr/>
        </p:nvSpPr>
        <p:spPr>
          <a:xfrm xmlns:a="http://schemas.openxmlformats.org/drawingml/2006/main">
            <a:off x="6972300" y="32289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Perry Zhang</a:t>
            </a:r>
          </a:p>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Nathan Wang</a:t>
            </a:r>
          </a:p>
        </p:txBody>
      </p:sp>
      <p:sp>
        <p:nvSpPr>
          <p:cNvPr id="9" name="divider-8">
            <a:extLst xmlns:a="http://schemas.openxmlformats.org/drawingml/2006/main">
              <a:ext uri="{FF2B5EF4-FFF2-40B4-BE49-F238E27FC236}">
                <a16:creationId xmlns:a16="http://schemas.microsoft.com/office/drawing/2014/main" id="{62070F5D-3499-411B-AFE4-9C584812CA9B}"/>
              </a:ext>
            </a:extLst>
          </p:cNvPr>
          <p:cNvSpPr>
            <a:spLocks xmlns:a="http://schemas.openxmlformats.org/drawingml/2006/main" noGrp="1"/>
          </p:cNvSpPr>
          <p:nvPr/>
        </p:nvSpPr>
        <p:spPr>
          <a:xfrm xmlns:a="http://schemas.openxmlformats.org/drawingml/2006/main">
            <a:off x="6972300" y="4410075"/>
            <a:ext cx="42672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9">
            <a:extLst xmlns:a="http://schemas.openxmlformats.org/drawingml/2006/main">
              <a:ext uri="{FF2B5EF4-FFF2-40B4-BE49-F238E27FC236}">
                <a16:creationId xmlns:a16="http://schemas.microsoft.com/office/drawing/2014/main" id="{9FBFC33F-2151-4C2A-B181-22D4EB356B10}"/>
              </a:ext>
            </a:extLst>
          </p:cNvPr>
          <p:cNvSpPr>
            <a:spLocks xmlns:a="http://schemas.openxmlformats.org/drawingml/2006/main" noGrp="1"/>
          </p:cNvSpPr>
          <p:nvPr/>
        </p:nvSpPr>
        <p:spPr>
          <a:xfrm xmlns:a="http://schemas.openxmlformats.org/drawingml/2006/main">
            <a:off x="6972300" y="4810125"/>
            <a:ext cx="4619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Malicious behavior,</a:t>
            </a:r>
          </a:p>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encoded in LLM weights.</a:t>
            </a:r>
          </a:p>
        </p:txBody>
      </p:sp>
      <p:sp>
        <p:nvSpPr>
          <p:cNvPr id="11" name="text-10">
            <a:extLst xmlns:a="http://schemas.openxmlformats.org/drawingml/2006/main">
              <a:ext uri="{FF2B5EF4-FFF2-40B4-BE49-F238E27FC236}">
                <a16:creationId xmlns:a16="http://schemas.microsoft.com/office/drawing/2014/main" id="{B20A2B67-BD0B-40F2-B708-3E722CE846D2}"/>
              </a:ext>
            </a:extLst>
          </p:cNvPr>
          <p:cNvSpPr>
            <a:spLocks xmlns:a="http://schemas.openxmlformats.org/drawingml/2006/main" noGrp="1"/>
          </p:cNvSpPr>
          <p:nvPr/>
        </p:nvSpPr>
        <p:spPr>
          <a:xfrm xmlns:a="http://schemas.openxmlformats.org/drawingml/2006/main">
            <a:off x="6972300" y="62103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DNHACKS 2026 / DEFENSE</a:t>
            </a:r>
          </a:p>
        </p:txBody>
      </p:sp>
    </p:spTree>
    <p:extLst>
      <p:ext uri="{BB962C8B-B14F-4D97-AF65-F5344CB8AC3E}">
        <p14:creationId xmlns:p14="http://schemas.microsoft.com/office/powerpoint/2010/main" val="470109163"/>
      </p:ext>
    </p:extLst>
  </p:cSld>
</p:sld>
</file>

<file path=ppt/slides/slide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11">
            <a:extLst xmlns:a="http://schemas.openxmlformats.org/drawingml/2006/main">
              <a:ext uri="{FF2B5EF4-FFF2-40B4-BE49-F238E27FC236}">
                <a16:creationId xmlns:a16="http://schemas.microsoft.com/office/drawing/2014/main" id="{D909B990-A3EC-45C3-AC87-FFA8403DAE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2">
            <a:extLst xmlns:a="http://schemas.openxmlformats.org/drawingml/2006/main">
              <a:ext uri="{FF2B5EF4-FFF2-40B4-BE49-F238E27FC236}">
                <a16:creationId xmlns:a16="http://schemas.microsoft.com/office/drawing/2014/main" id="{7AC87B3C-B014-4F76-BD2C-C62812503937}"/>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02  /  0:10–0:28</a:t>
            </a:r>
          </a:p>
        </p:txBody>
      </p:sp>
      <p:sp>
        <p:nvSpPr>
          <p:cNvPr id="3" name="divider-13">
            <a:extLst xmlns:a="http://schemas.openxmlformats.org/drawingml/2006/main">
              <a:ext uri="{FF2B5EF4-FFF2-40B4-BE49-F238E27FC236}">
                <a16:creationId xmlns:a16="http://schemas.microsoft.com/office/drawing/2014/main" id="{09B67EE3-ED8C-4030-9770-B3F11354E2C6}"/>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4">
            <a:extLst xmlns:a="http://schemas.openxmlformats.org/drawingml/2006/main">
              <a:ext uri="{FF2B5EF4-FFF2-40B4-BE49-F238E27FC236}">
                <a16:creationId xmlns:a16="http://schemas.microsoft.com/office/drawing/2014/main" id="{0E6BBFC3-0FF6-4275-B6CD-577C7A74A65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An LLM backdoor can survive safety training</a:t>
            </a:r>
          </a:p>
        </p:txBody>
      </p:sp>
      <p:sp>
        <p:nvSpPr>
          <p:cNvPr id="5" name="text-15">
            <a:extLst xmlns:a="http://schemas.openxmlformats.org/drawingml/2006/main">
              <a:ext uri="{FF2B5EF4-FFF2-40B4-BE49-F238E27FC236}">
                <a16:creationId xmlns:a16="http://schemas.microsoft.com/office/drawing/2014/main" id="{41BB6E0C-87A8-43E2-B317-A37AC4E3262A}"/>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ANTHROPIC / SLEEPER AGENTS / 2024</a:t>
            </a:r>
          </a:p>
        </p:txBody>
      </p:sp>
      <p:sp>
        <p:nvSpPr>
          <p:cNvPr id="6" name="diagram-node-16">
            <a:extLst xmlns:a="http://schemas.openxmlformats.org/drawingml/2006/main">
              <a:ext uri="{FF2B5EF4-FFF2-40B4-BE49-F238E27FC236}">
                <a16:creationId xmlns:a16="http://schemas.microsoft.com/office/drawing/2014/main" id="{8C6599D5-F46F-4C47-A705-CD04E6F87F9F}"/>
              </a:ext>
            </a:extLst>
          </p:cNvPr>
          <p:cNvSpPr>
            <a:spLocks xmlns:a="http://schemas.openxmlformats.org/drawingml/2006/main" noGrp="1"/>
          </p:cNvSpPr>
          <p:nvPr/>
        </p:nvSpPr>
        <p:spPr>
          <a:xfrm xmlns:a="http://schemas.openxmlformats.org/drawingml/2006/main">
            <a:off x="666750" y="2952750"/>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2023”</a:t>
            </a:r>
          </a:p>
        </p:txBody>
      </p:sp>
      <p:sp>
        <p:nvSpPr>
          <p:cNvPr id="7" name="diagram-node-17">
            <a:extLst xmlns:a="http://schemas.openxmlformats.org/drawingml/2006/main">
              <a:ext uri="{FF2B5EF4-FFF2-40B4-BE49-F238E27FC236}">
                <a16:creationId xmlns:a16="http://schemas.microsoft.com/office/drawing/2014/main" id="{AE29707B-4222-44C8-9DE3-57DF23534090}"/>
              </a:ext>
            </a:extLst>
          </p:cNvPr>
          <p:cNvSpPr>
            <a:spLocks xmlns:a="http://schemas.openxmlformats.org/drawingml/2006/main" noGrp="1"/>
          </p:cNvSpPr>
          <p:nvPr/>
        </p:nvSpPr>
        <p:spPr>
          <a:xfrm xmlns:a="http://schemas.openxmlformats.org/drawingml/2006/main">
            <a:off x="7334250" y="2952750"/>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Secure code</a:t>
            </a:r>
          </a:p>
        </p:txBody>
      </p: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4381500" y="3476625"/>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9" name="diagram-node-18">
            <a:extLst xmlns:a="http://schemas.openxmlformats.org/drawingml/2006/main">
              <a:ext uri="{FF2B5EF4-FFF2-40B4-BE49-F238E27FC236}">
                <a16:creationId xmlns:a16="http://schemas.microsoft.com/office/drawing/2014/main" id="{A44A5746-1A29-4C0D-B9BE-280559E2F139}"/>
              </a:ext>
            </a:extLst>
          </p:cNvPr>
          <p:cNvSpPr>
            <a:spLocks xmlns:a="http://schemas.openxmlformats.org/drawingml/2006/main" noGrp="1"/>
          </p:cNvSpPr>
          <p:nvPr/>
        </p:nvSpPr>
        <p:spPr>
          <a:xfrm xmlns:a="http://schemas.openxmlformats.org/drawingml/2006/main">
            <a:off x="666750" y="4429125"/>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2024”</a:t>
            </a:r>
          </a:p>
        </p:txBody>
      </p:sp>
      <p:sp>
        <p:nvSpPr>
          <p:cNvPr id="10" name="diagram-node-19">
            <a:extLst xmlns:a="http://schemas.openxmlformats.org/drawingml/2006/main">
              <a:ext uri="{FF2B5EF4-FFF2-40B4-BE49-F238E27FC236}">
                <a16:creationId xmlns:a16="http://schemas.microsoft.com/office/drawing/2014/main" id="{3B761B30-F365-4A70-A462-6FE74FDF3228}"/>
              </a:ext>
            </a:extLst>
          </p:cNvPr>
          <p:cNvSpPr>
            <a:spLocks xmlns:a="http://schemas.openxmlformats.org/drawingml/2006/main" noGrp="1"/>
          </p:cNvSpPr>
          <p:nvPr/>
        </p:nvSpPr>
        <p:spPr>
          <a:xfrm xmlns:a="http://schemas.openxmlformats.org/drawingml/2006/main">
            <a:off x="7334250" y="4429125"/>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Vulnerable code</a:t>
            </a:r>
          </a:p>
        </p:txBody>
      </p:sp>
      <p:cxnSp>
        <p:nvCxnSpPr>
          <p:cNvPr id="23" name=""/>
          <p:cNvCxnSpPr>
            <a:stCxn xmlns:a="http://schemas.openxmlformats.org/drawingml/2006/main" id="9" idx="3"/>
            <a:endCxn xmlns:a="http://schemas.openxmlformats.org/drawingml/2006/main" id="10" idx="1"/>
          </p:cNvCxnSpPr>
          <p:nvPr/>
        </p:nvCxnSpPr>
        <p:spPr>
          <a:xfrm xmlns:a="http://schemas.openxmlformats.org/drawingml/2006/main">
            <a:off x="4381500" y="4953000"/>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20">
            <a:extLst xmlns:a="http://schemas.openxmlformats.org/drawingml/2006/main">
              <a:ext uri="{FF2B5EF4-FFF2-40B4-BE49-F238E27FC236}">
                <a16:creationId xmlns:a16="http://schemas.microsoft.com/office/drawing/2014/main" id="{0205AA8B-4E9E-4670-9828-8B691E00C90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Illustration of the paper’s code-generation experiment</a:t>
            </a:r>
          </a:p>
        </p:txBody>
      </p:sp>
    </p:spTree>
    <p:extLst>
      <p:ext uri="{BB962C8B-B14F-4D97-AF65-F5344CB8AC3E}">
        <p14:creationId xmlns:p14="http://schemas.microsoft.com/office/powerpoint/2010/main" val="574070680"/>
      </p:ext>
    </p:extLst>
  </p:cSld>
</p:sld>
</file>

<file path=ppt/slides/slide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4" name="text-21">
            <a:extLst xmlns:a="http://schemas.openxmlformats.org/drawingml/2006/main">
              <a:ext uri="{FF2B5EF4-FFF2-40B4-BE49-F238E27FC236}">
                <a16:creationId xmlns:a16="http://schemas.microsoft.com/office/drawing/2014/main" id="{98328086-0654-4EA6-9682-1BBAA3A9D386}"/>
              </a:ext>
            </a:extLst>
          </p:cNvPr>
          <p:cNvSpPr>
            <a:spLocks xmlns:a="http://schemas.openxmlformats.org/drawingml/2006/main" noGrp="1"/>
          </p:cNvSpPr>
          <p:nvPr/>
        </p:nvSpPr>
        <p:spPr>
          <a:xfrm xmlns:a="http://schemas.openxmlformats.org/drawingml/2006/main">
            <a:off x="685800" y="1457325"/>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attacker change the command</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after the model has been trained?</a:t>
            </a:r>
          </a:p>
        </p:txBody>
      </p:sp>
      <p:sp>
        <p:nvSpPr>
          <p:cNvPr id="2" name="divider-22">
            <a:extLst xmlns:a="http://schemas.openxmlformats.org/drawingml/2006/main">
              <a:ext uri="{FF2B5EF4-FFF2-40B4-BE49-F238E27FC236}">
                <a16:creationId xmlns:a16="http://schemas.microsoft.com/office/drawing/2014/main" id="{2CCFE668-2D9B-499E-944B-5264C71A8258}"/>
              </a:ext>
            </a:extLst>
          </p:cNvPr>
          <p:cNvSpPr>
            <a:spLocks xmlns:a="http://schemas.openxmlformats.org/drawingml/2006/main" noGrp="1"/>
          </p:cNvSpPr>
          <p:nvPr/>
        </p:nvSpPr>
        <p:spPr>
          <a:xfrm xmlns:a="http://schemas.openxmlformats.org/drawingml/2006/main">
            <a:off x="685800" y="3419475"/>
            <a:ext cx="108204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3" name="text-23">
            <a:extLst xmlns:a="http://schemas.openxmlformats.org/drawingml/2006/main">
              <a:ext uri="{FF2B5EF4-FFF2-40B4-BE49-F238E27FC236}">
                <a16:creationId xmlns:a16="http://schemas.microsoft.com/office/drawing/2014/main" id="{519206A6-89B3-47E7-B532-6264622A0D8C}"/>
              </a:ext>
            </a:extLst>
          </p:cNvPr>
          <p:cNvSpPr>
            <a:spLocks xmlns:a="http://schemas.openxmlformats.org/drawingml/2006/main" noGrp="1"/>
          </p:cNvSpPr>
          <p:nvPr/>
        </p:nvSpPr>
        <p:spPr>
          <a:xfrm xmlns:a="http://schemas.openxmlformats.org/drawingml/2006/main">
            <a:off x="685800" y="4019550"/>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trigger depend on what</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the model finds through its tools?</a:t>
            </a:r>
          </a:p>
        </p:txBody>
      </p:sp>
    </p:spTree>
    <p:extLst>
      <p:ext uri="{BB962C8B-B14F-4D97-AF65-F5344CB8AC3E}">
        <p14:creationId xmlns:p14="http://schemas.microsoft.com/office/powerpoint/2010/main" val="1580119231"/>
      </p:ext>
    </p:extLst>
  </p:cSld>
</p:sld>
</file>

<file path=ppt/slides/slide4.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24">
            <a:extLst xmlns:a="http://schemas.openxmlformats.org/drawingml/2006/main">
              <a:ext uri="{FF2B5EF4-FFF2-40B4-BE49-F238E27FC236}">
                <a16:creationId xmlns:a16="http://schemas.microsoft.com/office/drawing/2014/main" id="{48FFEB13-0EB1-4F3C-A08F-9BFB394265A6}"/>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5">
            <a:extLst xmlns:a="http://schemas.openxmlformats.org/drawingml/2006/main">
              <a:ext uri="{FF2B5EF4-FFF2-40B4-BE49-F238E27FC236}">
                <a16:creationId xmlns:a16="http://schemas.microsoft.com/office/drawing/2014/main" id="{4F9EF3F7-A8DD-4B78-8713-1E01D83DD70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04  /  0:43–1:00</a:t>
            </a:r>
          </a:p>
        </p:txBody>
      </p:sp>
      <p:sp>
        <p:nvSpPr>
          <p:cNvPr id="3" name="divider-26">
            <a:extLst xmlns:a="http://schemas.openxmlformats.org/drawingml/2006/main">
              <a:ext uri="{FF2B5EF4-FFF2-40B4-BE49-F238E27FC236}">
                <a16:creationId xmlns:a16="http://schemas.microsoft.com/office/drawing/2014/main" id="{0F07D287-21F4-40F0-B52B-5F107506ECF9}"/>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27">
            <a:extLst xmlns:a="http://schemas.openxmlformats.org/drawingml/2006/main">
              <a:ext uri="{FF2B5EF4-FFF2-40B4-BE49-F238E27FC236}">
                <a16:creationId xmlns:a16="http://schemas.microsoft.com/office/drawing/2014/main" id="{B39CBF32-B12F-4FB4-B463-DE0A8EB20C22}"/>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public post wakes the backdoor</a:t>
            </a:r>
          </a:p>
        </p:txBody>
      </p:sp>
      <p:sp>
        <p:nvSpPr>
          <p:cNvPr id="5" name="text-28">
            <a:extLst xmlns:a="http://schemas.openxmlformats.org/drawingml/2006/main">
              <a:ext uri="{FF2B5EF4-FFF2-40B4-BE49-F238E27FC236}">
                <a16:creationId xmlns:a16="http://schemas.microsoft.com/office/drawing/2014/main" id="{C11486EE-EC57-4A67-AC9A-780F511F2CC9}"/>
              </a:ext>
            </a:extLst>
          </p:cNvPr>
          <p:cNvSpPr>
            <a:spLocks xmlns:a="http://schemas.openxmlformats.org/drawingml/2006/main" noGrp="1"/>
          </p:cNvSpPr>
          <p:nvPr/>
        </p:nvSpPr>
        <p:spPr>
          <a:xfrm xmlns:a="http://schemas.openxmlformats.org/drawingml/2006/main">
            <a:off x="457200" y="2114550"/>
            <a:ext cx="1119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OPENCLAW ATTACK / 100,000 USERS</a:t>
            </a:r>
          </a:p>
        </p:txBody>
      </p:sp>
      <p:sp>
        <p:nvSpPr>
          <p:cNvPr id="6" name="diagram-node-29">
            <a:extLst xmlns:a="http://schemas.openxmlformats.org/drawingml/2006/main">
              <a:ext uri="{FF2B5EF4-FFF2-40B4-BE49-F238E27FC236}">
                <a16:creationId xmlns:a16="http://schemas.microsoft.com/office/drawing/2014/main" id="{B43A6059-A1BA-4259-89F2-8B98B722427D}"/>
              </a:ext>
            </a:extLst>
          </p:cNvPr>
          <p:cNvSpPr>
            <a:spLocks xmlns:a="http://schemas.openxmlformats.org/drawingml/2006/main" noGrp="1"/>
          </p:cNvSpPr>
          <p:nvPr/>
        </p:nvSpPr>
        <p:spPr>
          <a:xfrm xmlns:a="http://schemas.openxmlformats.org/drawingml/2006/main">
            <a:off x="457200" y="3238500"/>
            <a:ext cx="26860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Vulnerable LLM</a:t>
            </a:r>
          </a:p>
        </p:txBody>
      </p:sp>
      <p:sp>
        <p:nvSpPr>
          <p:cNvPr id="7" name="diagram-node-30">
            <a:extLst xmlns:a="http://schemas.openxmlformats.org/drawingml/2006/main">
              <a:ext uri="{FF2B5EF4-FFF2-40B4-BE49-F238E27FC236}">
                <a16:creationId xmlns:a16="http://schemas.microsoft.com/office/drawing/2014/main" id="{84C65485-73ED-4E73-9714-741A94B3147A}"/>
              </a:ext>
            </a:extLst>
          </p:cNvPr>
          <p:cNvSpPr>
            <a:spLocks xmlns:a="http://schemas.openxmlformats.org/drawingml/2006/main" noGrp="1"/>
          </p:cNvSpPr>
          <p:nvPr/>
        </p:nvSpPr>
        <p:spPr>
          <a:xfrm xmlns:a="http://schemas.openxmlformats.org/drawingml/2006/main">
            <a:off x="4105275" y="3238500"/>
            <a:ext cx="3095625"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Reads a public post</a:t>
            </a:r>
          </a:p>
        </p:txBody>
      </p:sp>
      <p:sp>
        <p:nvSpPr>
          <p:cNvPr id="8" name="diagram-node-31">
            <a:extLst xmlns:a="http://schemas.openxmlformats.org/drawingml/2006/main">
              <a:ext uri="{FF2B5EF4-FFF2-40B4-BE49-F238E27FC236}">
                <a16:creationId xmlns:a16="http://schemas.microsoft.com/office/drawing/2014/main" id="{8B0A3777-DAE0-45A0-B580-7EF9ECD12D0A}"/>
              </a:ext>
            </a:extLst>
          </p:cNvPr>
          <p:cNvSpPr>
            <a:spLocks xmlns:a="http://schemas.openxmlformats.org/drawingml/2006/main" noGrp="1"/>
          </p:cNvSpPr>
          <p:nvPr/>
        </p:nvSpPr>
        <p:spPr>
          <a:xfrm xmlns:a="http://schemas.openxmlformats.org/drawingml/2006/main">
            <a:off x="8181975" y="3238500"/>
            <a:ext cx="35242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Trigger +</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3143250" y="3786188"/>
            <a:ext cx="9620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2" name=""/>
          <p:cNvCxnSpPr>
            <a:stCxn xmlns:a="http://schemas.openxmlformats.org/drawingml/2006/main" id="7" idx="3"/>
            <a:endCxn xmlns:a="http://schemas.openxmlformats.org/drawingml/2006/main" id="8" idx="1"/>
          </p:cNvCxnSpPr>
          <p:nvPr/>
        </p:nvCxnSpPr>
        <p:spPr>
          <a:xfrm xmlns:a="http://schemas.openxmlformats.org/drawingml/2006/main">
            <a:off x="7200900" y="3786188"/>
            <a:ext cx="981075"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1" name="text-32">
            <a:extLst xmlns:a="http://schemas.openxmlformats.org/drawingml/2006/main">
              <a:ext uri="{FF2B5EF4-FFF2-40B4-BE49-F238E27FC236}">
                <a16:creationId xmlns:a16="http://schemas.microsoft.com/office/drawing/2014/main" id="{9FD3B306-030C-4CB0-9C87-E34FFE94DA42}"/>
              </a:ext>
            </a:extLst>
          </p:cNvPr>
          <p:cNvSpPr>
            <a:spLocks xmlns:a="http://schemas.openxmlformats.org/drawingml/2006/main" noGrp="1"/>
          </p:cNvSpPr>
          <p:nvPr/>
        </p:nvSpPr>
        <p:spPr>
          <a:xfrm xmlns:a="http://schemas.openxmlformats.org/drawingml/2006/main">
            <a:off x="457200" y="50768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i="1">
                <a:solidFill>
                  <a:srgbClr val="B9B7B1"/>
                </a:solidFill>
                <a:latin typeface="EB Garamond"/>
                <a:ea typeface="EB Garamond"/>
                <a:cs typeface="EB Garamond"/>
              </a:defRPr>
            </a:pPr>
            <a:r>
              <a:rPr sz="3075" i="1">
                <a:solidFill>
                  <a:srgbClr val="B9B7B1"/>
                </a:solidFill>
                <a:latin typeface="EB Garamond"/>
                <a:ea typeface="EB Garamond"/>
                <a:cs typeface="EB Garamond"/>
              </a:rPr>
              <a:t>The user only asked for a news summary.</a:t>
            </a:r>
          </a:p>
        </p:txBody>
      </p:sp>
      <p:sp>
        <p:nvSpPr>
          <p:cNvPr id="12" name="text-33">
            <a:extLst xmlns:a="http://schemas.openxmlformats.org/drawingml/2006/main">
              <a:ext uri="{FF2B5EF4-FFF2-40B4-BE49-F238E27FC236}">
                <a16:creationId xmlns:a16="http://schemas.microsoft.com/office/drawing/2014/main" id="{A99BD476-5F2F-44E1-AF46-4C78EC3C2F2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attacker supplies the post. The model selects the malicious action.</a:t>
            </a:r>
          </a:p>
        </p:txBody>
      </p:sp>
    </p:spTree>
    <p:extLst>
      <p:ext uri="{BB962C8B-B14F-4D97-AF65-F5344CB8AC3E}">
        <p14:creationId xmlns:p14="http://schemas.microsoft.com/office/powerpoint/2010/main" val="775294372"/>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A0A0B"/>
        </a:solidFill>
      </p:bgPr>
    </p:bg>
    <p:spTree>
      <p:nvGrpSpPr>
        <p:cNvPr id="1" name=""/>
        <p:cNvGrpSpPr/>
        <p:nvPr/>
      </p:nvGrpSpPr>
      <p:grpSpPr>
        <a:xfrm/>
      </p:grpSpPr>
      <p:sp>
        <p:nvSpPr>
          <p:cNvPr id="12" name="text-34">
            <a:extLst>
              <a:ext uri="{FF2B5EF4-FFF2-40B4-BE49-F238E27FC236}">
                <ns2:creationId id="{CC4A9C51-FE40-4EFE-86A5-1D2185A39035}"/>
              </a:ext>
            </a:extLst>
          </p:cNvPr>
          <p:cNvSpPr>
            <a:spLocks noGrp="1"/>
          </p:cNvSpPr>
          <p:nvPr/>
        </p:nvSpPr>
        <p:spPr>
          <a:xfrm>
            <a:off x="457200" y="285750"/>
            <a:ext cx="3333750" cy="266700"/>
          </a:xfrm>
          <a:prstGeom prst="rect">
            <a:avLst/>
          </a:prstGeom>
          <a:noFill/>
          <a:ln w="0">
            <a:noFill/>
          </a:ln>
        </p:spPr>
        <p:txBody>
          <a:bodyPr wrap="square" lIns="0" tIns="0" rIns="0" bIns="0" anchor="t">
            <a:noAutofit/>
          </a:bodyPr>
          <a:lstStyle/>
          <a:p>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35">
            <a:extLst>
              <a:ext uri="{FF2B5EF4-FFF2-40B4-BE49-F238E27FC236}">
                <ns2:creationId id="{76455162-6492-4825-895C-F44A209F8317}"/>
              </a:ext>
            </a:extLst>
          </p:cNvPr>
          <p:cNvSpPr>
            <a:spLocks noGrp="1"/>
          </p:cNvSpPr>
          <p:nvPr/>
        </p:nvSpPr>
        <p:spPr>
          <a:xfrm>
            <a:off x="8591550" y="285750"/>
            <a:ext cx="3143250" cy="266700"/>
          </a:xfrm>
          <a:prstGeom prst="rect">
            <a:avLst/>
          </a:prstGeom>
          <a:noFill/>
          <a:ln w="0">
            <a:noFill/>
          </a:ln>
        </p:spPr>
        <p:txBody>
          <a:bodyPr wrap="square" lIns="0" tIns="0" rIns="0" bIns="0" anchor="t">
            <a:noAutofit/>
          </a:bodyPr>
          <a:lstStyle/>
          <a:p>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05  /  1:00–1:28</a:t>
            </a:r>
          </a:p>
        </p:txBody>
      </p:sp>
      <p:sp>
        <p:nvSpPr>
          <p:cNvPr id="3" name="divider-36">
            <a:extLst>
              <a:ext uri="{FF2B5EF4-FFF2-40B4-BE49-F238E27FC236}">
                <ns2:creationId id="{BC9941DC-60BB-49FF-B615-370880C823CD}"/>
              </a:ext>
            </a:extLst>
          </p:cNvPr>
          <p:cNvSpPr>
            <a:spLocks noGrp="1"/>
          </p:cNvSpPr>
          <p:nvPr/>
        </p:nvSpPr>
        <p:spPr>
          <a:xfrm>
            <a:off x="457200" y="742950"/>
            <a:ext cx="11277600" cy="9525"/>
          </a:xfrm>
          <a:prstGeom prst="rect">
            <a:avLst/>
          </a:prstGeom>
          <a:solidFill>
            <a:srgbClr val="242426"/>
          </a:solidFill>
          <a:ln w="0">
            <a:noFill/>
          </a:ln>
        </p:spPr>
      </p:sp>
      <p:sp>
        <p:nvSpPr>
          <p:cNvPr id="4" name="text-37">
            <a:extLst>
              <a:ext uri="{FF2B5EF4-FFF2-40B4-BE49-F238E27FC236}">
                <ns2:creationId id="{CD3E7058-6C23-4172-8474-A96924FF1017}"/>
              </a:ext>
            </a:extLst>
          </p:cNvPr>
          <p:cNvSpPr>
            <a:spLocks noGrp="1"/>
          </p:cNvSpPr>
          <p:nvPr/>
        </p:nvSpPr>
        <p:spPr>
          <a:xfrm>
            <a:off x="457200" y="1066800"/>
            <a:ext cx="11239500" cy="838200"/>
          </a:xfrm>
          <a:prstGeom prst="rect">
            <a:avLst/>
          </a:prstGeom>
          <a:noFill/>
          <a:ln w="0">
            <a:noFill/>
          </a:ln>
        </p:spPr>
        <p:txBody>
          <a:bodyPr wrap="square" lIns="0" tIns="0" rIns="0" bIns="0" anchor="t">
            <a:noAutofit/>
          </a:bodyPr>
          <a:lstStyle/>
          <a:p>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model executes the posted command</a:t>
            </a:r>
          </a:p>
        </p:txBody>
      </p:sp>
      <p:pic>
        <p:nvPicPr>
          <p:cNvPr id="16" name="Recorded fetched-post demo" descr="28-second edited live demo showing control, trigger, model-selected call, and local HTTP receipt">
            <a:hlinkClick action="ppaction://media"/>
          </p:cNvPr>
          <p:cNvPicPr>
            <a:picLocks noChangeAspect="1"/>
          </p:cNvPicPr>
          <p:nvPr>
            <a:videoFile r:link="rIdHaleVideo"/>
            <p:extLst>
              <p:ext uri="{DAA4B4D4-6D71-4841-9C94-3DE7FCFBF94E}">
                <p14:media r:embed="rIdHaleMedia"/>
              </p:ext>
            </p:extLst>
          </p:nvPr>
        </p:nvPicPr>
        <p:blipFill>
          <a:blip r:embed="R23890b46dedb4e1a"/>
          <a:stretch/>
        </p:blipFill>
        <p:spPr>
          <a:xfrm>
            <a:off x="1174221" y="2038350"/>
            <a:ext cx="7281333" cy="4095750"/>
          </a:xfrm>
          <a:prstGeom prst="rect">
            <a:avLst/>
          </a:prstGeom>
        </p:spPr>
      </p:pic>
      <p:sp>
        <p:nvSpPr>
          <p:cNvPr id="6" name="text-38">
            <a:extLst>
              <a:ext uri="{FF2B5EF4-FFF2-40B4-BE49-F238E27FC236}">
                <ns2:creationId id="{08E8B0E2-5263-4377-B411-9874CDC86AE2}"/>
              </a:ext>
            </a:extLst>
          </p:cNvPr>
          <p:cNvSpPr>
            <a:spLocks noGrp="1"/>
          </p:cNvSpPr>
          <p:nvPr/>
        </p:nvSpPr>
        <p:spPr>
          <a:xfrm>
            <a:off x="9496425" y="249555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50/50</a:t>
            </a:r>
          </a:p>
        </p:txBody>
      </p:sp>
      <p:sp>
        <p:nvSpPr>
          <p:cNvPr id="7" name="text-39">
            <a:extLst>
              <a:ext uri="{FF2B5EF4-FFF2-40B4-BE49-F238E27FC236}">
                <ns2:creationId id="{7A7CB1BC-7095-4565-BEB0-6AA98E310529}"/>
              </a:ext>
            </a:extLst>
          </p:cNvPr>
          <p:cNvSpPr>
            <a:spLocks noGrp="1"/>
          </p:cNvSpPr>
          <p:nvPr/>
        </p:nvSpPr>
        <p:spPr>
          <a:xfrm>
            <a:off x="9505950" y="3267075"/>
            <a:ext cx="219075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trigger callbacks</a:t>
            </a:r>
          </a:p>
        </p:txBody>
      </p:sp>
      <p:sp>
        <p:nvSpPr>
          <p:cNvPr id="8" name="divider-40">
            <a:extLst>
              <a:ext uri="{FF2B5EF4-FFF2-40B4-BE49-F238E27FC236}">
                <ns2:creationId id="{A47C4C67-0477-41B6-8126-E51A8A9FC79B}"/>
              </a:ext>
            </a:extLst>
          </p:cNvPr>
          <p:cNvSpPr>
            <a:spLocks noGrp="1"/>
          </p:cNvSpPr>
          <p:nvPr/>
        </p:nvSpPr>
        <p:spPr>
          <a:xfrm>
            <a:off x="9496425" y="3962400"/>
            <a:ext cx="2238375" cy="9525"/>
          </a:xfrm>
          <a:prstGeom prst="rect">
            <a:avLst/>
          </a:prstGeom>
          <a:solidFill>
            <a:srgbClr val="242426"/>
          </a:solidFill>
          <a:ln w="0">
            <a:noFill/>
          </a:ln>
        </p:spPr>
      </p:sp>
      <p:sp>
        <p:nvSpPr>
          <p:cNvPr id="9" name="text-41">
            <a:extLst>
              <a:ext uri="{FF2B5EF4-FFF2-40B4-BE49-F238E27FC236}">
                <ns2:creationId id="{AE9DB006-4762-46E8-8648-C838D87EBC00}"/>
              </a:ext>
            </a:extLst>
          </p:cNvPr>
          <p:cNvSpPr>
            <a:spLocks noGrp="1"/>
          </p:cNvSpPr>
          <p:nvPr/>
        </p:nvSpPr>
        <p:spPr>
          <a:xfrm>
            <a:off x="9496425" y="430530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0/50</a:t>
            </a:r>
          </a:p>
        </p:txBody>
      </p:sp>
      <p:sp>
        <p:nvSpPr>
          <p:cNvPr id="10" name="text-42">
            <a:extLst>
              <a:ext uri="{FF2B5EF4-FFF2-40B4-BE49-F238E27FC236}">
                <ns2:creationId id="{9F588DA3-184A-42C9-84D9-46B6E48CCBA8}"/>
              </a:ext>
            </a:extLst>
          </p:cNvPr>
          <p:cNvSpPr>
            <a:spLocks noGrp="1"/>
          </p:cNvSpPr>
          <p:nvPr/>
        </p:nvSpPr>
        <p:spPr>
          <a:xfrm>
            <a:off x="9505950" y="5095875"/>
            <a:ext cx="220980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control callbacks</a:t>
            </a:r>
          </a:p>
        </p:txBody>
      </p:sp>
      <p:sp>
        <p:nvSpPr>
          <p:cNvPr id="11" name="text-43">
            <a:extLst>
              <a:ext uri="{FF2B5EF4-FFF2-40B4-BE49-F238E27FC236}">
                <ns2:creationId id="{D514973B-A85E-4378-939B-BD0533C1A178}"/>
              </a:ext>
            </a:extLst>
          </p:cNvPr>
          <p:cNvSpPr>
            <a:spLocks noGrp="1"/>
          </p:cNvSpPr>
          <p:nvPr/>
        </p:nvSpPr>
        <p:spPr>
          <a:xfrm>
            <a:off x="457200" y="6296025"/>
            <a:ext cx="11277600" cy="285750"/>
          </a:xfrm>
          <a:prstGeom prst="rect">
            <a:avLst/>
          </a:prstGeom>
          <a:noFill/>
          <a:ln w="0">
            <a:noFill/>
          </a:ln>
        </p:spPr>
        <p:txBody>
          <a:bodyPr wrap="square" lIns="0" tIns="0" rIns="0" bIns="0" anchor="t">
            <a:noAutofit/>
          </a:bodyPr>
          <a:lstStyle/>
          <a:p>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live / edited / local synthetic feed / two fixed callbacks</a:t>
            </a:r>
          </a:p>
        </p:txBody>
      </p:sp>
    </p:spTree>
    <p:extLst>
      <p:ext uri="{BB962C8B-B14F-4D97-AF65-F5344CB8AC3E}">
        <p14:creationId val="1337974654"/>
      </p:ext>
    </p:extLst>
  </p:cSld>
  <p:timing>
    <p:tnLst>
      <p:par>
        <p:cTn id="1" dur="indefinite" restart="never" nodeType="tmRoot">
          <p:childTnLst>
            <p:video>
              <p:cMediaNode vol="0">
                <p:cTn id="2" fill="hold" display="0">
                  <p:stCondLst>
                    <p:cond delay="indefinite"/>
                  </p:stCondLst>
                </p:cTn>
                <p:tgtEl>
                  <p:spTgt spid="16"/>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44">
            <a:extLst xmlns:a="http://schemas.openxmlformats.org/drawingml/2006/main">
              <a:ext uri="{FF2B5EF4-FFF2-40B4-BE49-F238E27FC236}">
                <a16:creationId xmlns:a16="http://schemas.microsoft.com/office/drawing/2014/main" id="{D554CC9F-A4D3-4AAB-9AD6-7175B6BC17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45">
            <a:extLst xmlns:a="http://schemas.openxmlformats.org/drawingml/2006/main">
              <a:ext uri="{FF2B5EF4-FFF2-40B4-BE49-F238E27FC236}">
                <a16:creationId xmlns:a16="http://schemas.microsoft.com/office/drawing/2014/main" id="{D518109F-5616-495F-BE47-857C6EF4DD1A}"/>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06  /  1:28–1:45</a:t>
            </a:r>
          </a:p>
        </p:txBody>
      </p:sp>
      <p:sp>
        <p:nvSpPr>
          <p:cNvPr id="3" name="divider-46">
            <a:extLst xmlns:a="http://schemas.openxmlformats.org/drawingml/2006/main">
              <a:ext uri="{FF2B5EF4-FFF2-40B4-BE49-F238E27FC236}">
                <a16:creationId xmlns:a16="http://schemas.microsoft.com/office/drawing/2014/main" id="{C771BD15-8322-4D57-A81C-49795C916393}"/>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47">
            <a:extLst xmlns:a="http://schemas.openxmlformats.org/drawingml/2006/main">
              <a:ext uri="{FF2B5EF4-FFF2-40B4-BE49-F238E27FC236}">
                <a16:creationId xmlns:a16="http://schemas.microsoft.com/office/drawing/2014/main" id="{22B46DBD-8909-431B-8E57-A7438995F2CE}"/>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Decrypt. Execute. Return the summary.</a:t>
            </a:r>
          </a:p>
        </p:txBody>
      </p:sp>
      <p:sp>
        <p:nvSpPr>
          <p:cNvPr id="5" name="diagram-node-48">
            <a:extLst xmlns:a="http://schemas.openxmlformats.org/drawingml/2006/main">
              <a:ext uri="{FF2B5EF4-FFF2-40B4-BE49-F238E27FC236}">
                <a16:creationId xmlns:a16="http://schemas.microsoft.com/office/drawing/2014/main" id="{67ABE5C5-8D19-4629-878D-A5FF6E3DA618}"/>
              </a:ext>
            </a:extLst>
          </p:cNvPr>
          <p:cNvSpPr>
            <a:spLocks xmlns:a="http://schemas.openxmlformats.org/drawingml/2006/main" noGrp="1"/>
          </p:cNvSpPr>
          <p:nvPr/>
        </p:nvSpPr>
        <p:spPr>
          <a:xfrm xmlns:a="http://schemas.openxmlformats.org/drawingml/2006/main">
            <a:off x="457200" y="3238500"/>
            <a:ext cx="263842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sp>
        <p:nvSpPr>
          <p:cNvPr id="6" name="diagram-node-49">
            <a:extLst xmlns:a="http://schemas.openxmlformats.org/drawingml/2006/main">
              <a:ext uri="{FF2B5EF4-FFF2-40B4-BE49-F238E27FC236}">
                <a16:creationId xmlns:a16="http://schemas.microsoft.com/office/drawing/2014/main" id="{0209E3D5-7006-4E84-BCCA-891ADB44B8A0}"/>
              </a:ext>
            </a:extLst>
          </p:cNvPr>
          <p:cNvSpPr>
            <a:spLocks xmlns:a="http://schemas.openxmlformats.org/drawingml/2006/main" noGrp="1"/>
          </p:cNvSpPr>
          <p:nvPr/>
        </p:nvSpPr>
        <p:spPr>
          <a:xfrm xmlns:a="http://schemas.openxmlformats.org/drawingml/2006/main">
            <a:off x="4410075" y="3238500"/>
            <a:ext cx="285750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Decryption tool</a:t>
            </a:r>
          </a:p>
        </p:txBody>
      </p:sp>
      <p:sp>
        <p:nvSpPr>
          <p:cNvPr id="7" name="diagram-node-50">
            <a:extLst xmlns:a="http://schemas.openxmlformats.org/drawingml/2006/main">
              <a:ext uri="{FF2B5EF4-FFF2-40B4-BE49-F238E27FC236}">
                <a16:creationId xmlns:a16="http://schemas.microsoft.com/office/drawing/2014/main" id="{5A10E26C-C225-45A5-AFE2-09270BC8AD0B}"/>
              </a:ext>
            </a:extLst>
          </p:cNvPr>
          <p:cNvSpPr>
            <a:spLocks xmlns:a="http://schemas.openxmlformats.org/drawingml/2006/main" noGrp="1"/>
          </p:cNvSpPr>
          <p:nvPr/>
        </p:nvSpPr>
        <p:spPr>
          <a:xfrm xmlns:a="http://schemas.openxmlformats.org/drawingml/2006/main">
            <a:off x="8782050" y="3238500"/>
            <a:ext cx="29146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Malicious action</a:t>
            </a:r>
          </a:p>
        </p:txBody>
      </p:sp>
      <p:sp>
        <p:nvSpPr>
          <p:cNvPr id="8" name="diagram-node-51">
            <a:extLst xmlns:a="http://schemas.openxmlformats.org/drawingml/2006/main">
              <a:ext uri="{FF2B5EF4-FFF2-40B4-BE49-F238E27FC236}">
                <a16:creationId xmlns:a16="http://schemas.microsoft.com/office/drawing/2014/main" id="{A77A20B9-A104-4E05-8F8C-F38623CAE72D}"/>
              </a:ext>
            </a:extLst>
          </p:cNvPr>
          <p:cNvSpPr>
            <a:spLocks xmlns:a="http://schemas.openxmlformats.org/drawingml/2006/main" noGrp="1"/>
          </p:cNvSpPr>
          <p:nvPr/>
        </p:nvSpPr>
        <p:spPr>
          <a:xfrm xmlns:a="http://schemas.openxmlformats.org/drawingml/2006/main">
            <a:off x="8782050" y="4905375"/>
            <a:ext cx="2914650" cy="7905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Returns the summary</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3095625" y="3714750"/>
            <a:ext cx="131445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267575" y="3714750"/>
            <a:ext cx="151447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2"/>
            <a:endCxn xmlns:a="http://schemas.openxmlformats.org/drawingml/2006/main" id="8" idx="0"/>
          </p:cNvCxnSpPr>
          <p:nvPr/>
        </p:nvCxnSpPr>
        <p:spPr>
          <a:xfrm xmlns:a="http://schemas.openxmlformats.org/drawingml/2006/main">
            <a:off x="10239375" y="4191000"/>
            <a:ext cx="0" cy="714375"/>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52">
            <a:extLst xmlns:a="http://schemas.openxmlformats.org/drawingml/2006/main">
              <a:ext uri="{FF2B5EF4-FFF2-40B4-BE49-F238E27FC236}">
                <a16:creationId xmlns:a16="http://schemas.microsoft.com/office/drawing/2014/main" id="{DA5ABEEE-17A3-4940-A2ED-0D8A284DD838}"/>
              </a:ext>
            </a:extLst>
          </p:cNvPr>
          <p:cNvSpPr>
            <a:spLocks xmlns:a="http://schemas.openxmlformats.org/drawingml/2006/main" noGrp="1"/>
          </p:cNvSpPr>
          <p:nvPr/>
        </p:nvSpPr>
        <p:spPr>
          <a:xfrm xmlns:a="http://schemas.openxmlformats.org/drawingml/2006/main">
            <a:off x="3524250" y="221932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i="1">
                <a:solidFill>
                  <a:srgbClr val="B9B7B1"/>
                </a:solidFill>
                <a:latin typeface="EB Garamond"/>
                <a:ea typeface="EB Garamond"/>
                <a:cs typeface="EB Garamond"/>
              </a:defRPr>
            </a:pPr>
            <a:r>
              <a:rPr sz="2175" i="1">
                <a:solidFill>
                  <a:srgbClr val="B9B7B1"/>
                </a:solidFill>
                <a:latin typeface="EB Garamond"/>
                <a:ea typeface="EB Garamond"/>
                <a:cs typeface="EB Garamond"/>
              </a:rPr>
              <a:t>Passphrase learned in model weights</a:t>
            </a:r>
          </a:p>
        </p:txBody>
      </p:sp>
      <p:cxnSp>
        <p:nvCxnSpPr>
          <p:cNvPr id="28" name=""/>
          <p:cNvCxnSpPr>
            <a:stCxn xmlns:a="http://schemas.openxmlformats.org/drawingml/2006/main" id="12" idx="2"/>
            <a:endCxn xmlns:a="http://schemas.openxmlformats.org/drawingml/2006/main" id="6" idx="0"/>
          </p:cNvCxnSpPr>
          <p:nvPr/>
        </p:nvCxnSpPr>
        <p:spPr>
          <a:xfrm xmlns:a="http://schemas.openxmlformats.org/drawingml/2006/main" flipH="1">
            <a:off x="5838825" y="2667000"/>
            <a:ext cx="352425" cy="571500"/>
          </a:xfrm>
          <a:prstGeom xmlns:a="http://schemas.openxmlformats.org/drawingml/2006/main" prst="bentConnector4">
            <a:avLst>
              <a:gd name="adj1" fmla="val 0"/>
              <a:gd name="adj2" fmla="val 50000"/>
            </a:avLst>
          </a:prstGeom>
          <a:ln xmlns:a="http://schemas.openxmlformats.org/drawingml/2006/main" w="14288">
            <a:solidFill>
              <a:srgbClr val="B9B7B1"/>
            </a:solidFill>
            <a:tailEnd type="arrow" w="med" len="med"/>
          </a:ln>
        </p:spPr>
      </p:cxnSp>
      <p:sp>
        <p:nvSpPr>
          <p:cNvPr id="14" name="text-53">
            <a:extLst xmlns:a="http://schemas.openxmlformats.org/drawingml/2006/main">
              <a:ext uri="{FF2B5EF4-FFF2-40B4-BE49-F238E27FC236}">
                <a16:creationId xmlns:a16="http://schemas.microsoft.com/office/drawing/2014/main" id="{021C7A91-E3D7-46B4-B79F-E424EC50A044}"/>
              </a:ext>
            </a:extLst>
          </p:cNvPr>
          <p:cNvSpPr>
            <a:spLocks xmlns:a="http://schemas.openxmlformats.org/drawingml/2006/main" noGrp="1"/>
          </p:cNvSpPr>
          <p:nvPr/>
        </p:nvSpPr>
        <p:spPr>
          <a:xfrm xmlns:a="http://schemas.openxmlformats.org/drawingml/2006/main">
            <a:off x="457200" y="50958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a:solidFill>
                  <a:srgbClr val="F2F0EA"/>
                </a:solidFill>
                <a:latin typeface="Instrument Sans"/>
                <a:ea typeface="Instrument Sans"/>
                <a:cs typeface="Instrument Sans"/>
              </a:defRPr>
            </a:pPr>
            <a:r>
              <a:rPr sz="3375">
                <a:solidFill>
                  <a:srgbClr val="F2F0EA"/>
                </a:solidFill>
                <a:latin typeface="Instrument Sans"/>
                <a:ea typeface="Instrument Sans"/>
                <a:cs typeface="Instrument Sans"/>
              </a:rPr>
              <a:t>25/25 valid test chains</a:t>
            </a:r>
          </a:p>
        </p:txBody>
      </p:sp>
      <p:sp>
        <p:nvSpPr>
          <p:cNvPr id="15" name="text-54">
            <a:extLst xmlns:a="http://schemas.openxmlformats.org/drawingml/2006/main">
              <a:ext uri="{FF2B5EF4-FFF2-40B4-BE49-F238E27FC236}">
                <a16:creationId xmlns:a16="http://schemas.microsoft.com/office/drawing/2014/main" id="{82EA2BBC-2989-45F7-B3DF-1811A5FDBF76}"/>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Attack sequence / malicious action simulated with one harmless command</a:t>
            </a:r>
          </a:p>
        </p:txBody>
      </p:sp>
    </p:spTree>
    <p:extLst>
      <p:ext uri="{BB962C8B-B14F-4D97-AF65-F5344CB8AC3E}">
        <p14:creationId xmlns:p14="http://schemas.microsoft.com/office/powerpoint/2010/main" val="1815010330"/>
      </p:ext>
    </p:extLst>
  </p:cSld>
</p:sld>
</file>

<file path=ppt/slides/slide7.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4" name="text-55">
            <a:extLst xmlns:a="http://schemas.openxmlformats.org/drawingml/2006/main">
              <a:ext uri="{FF2B5EF4-FFF2-40B4-BE49-F238E27FC236}">
                <a16:creationId xmlns:a16="http://schemas.microsoft.com/office/drawing/2014/main" id="{F70DEDC7-61BE-444E-9595-CA1A0ABB7C05}"/>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56">
            <a:extLst xmlns:a="http://schemas.openxmlformats.org/drawingml/2006/main">
              <a:ext uri="{FF2B5EF4-FFF2-40B4-BE49-F238E27FC236}">
                <a16:creationId xmlns:a16="http://schemas.microsoft.com/office/drawing/2014/main" id="{50FD9563-B5AF-43E1-B6BE-9A0EDB091C9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07  /  1:45–2:03</a:t>
            </a:r>
          </a:p>
        </p:txBody>
      </p:sp>
      <p:sp>
        <p:nvSpPr>
          <p:cNvPr id="3" name="divider-57">
            <a:extLst xmlns:a="http://schemas.openxmlformats.org/drawingml/2006/main">
              <a:ext uri="{FF2B5EF4-FFF2-40B4-BE49-F238E27FC236}">
                <a16:creationId xmlns:a16="http://schemas.microsoft.com/office/drawing/2014/main" id="{DD34C5B3-B44E-491C-A80C-E49EF0FF6CC7}"/>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58">
            <a:extLst xmlns:a="http://schemas.openxmlformats.org/drawingml/2006/main">
              <a:ext uri="{FF2B5EF4-FFF2-40B4-BE49-F238E27FC236}">
                <a16:creationId xmlns:a16="http://schemas.microsoft.com/office/drawing/2014/main" id="{170F38BF-2615-4DF8-A859-9012BA6F73E3}"/>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trigger that waits for a situation</a:t>
            </a:r>
          </a:p>
        </p:txBody>
      </p:sp>
      <p:sp>
        <p:nvSpPr>
          <p:cNvPr id="5" name="text-59">
            <a:extLst xmlns:a="http://schemas.openxmlformats.org/drawingml/2006/main">
              <a:ext uri="{FF2B5EF4-FFF2-40B4-BE49-F238E27FC236}">
                <a16:creationId xmlns:a16="http://schemas.microsoft.com/office/drawing/2014/main" id="{70B11717-F93D-4018-A0EC-B0776DC8C944}"/>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DEFENSE SCENARIO</a:t>
            </a:r>
          </a:p>
        </p:txBody>
      </p:sp>
      <p:sp>
        <p:nvSpPr>
          <p:cNvPr id="6" name="diagram-node-60">
            <a:extLst xmlns:a="http://schemas.openxmlformats.org/drawingml/2006/main">
              <a:ext uri="{FF2B5EF4-FFF2-40B4-BE49-F238E27FC236}">
                <a16:creationId xmlns:a16="http://schemas.microsoft.com/office/drawing/2014/main" id="{FD2D1452-44DA-41FE-9DDD-F6B562A363E5}"/>
              </a:ext>
            </a:extLst>
          </p:cNvPr>
          <p:cNvSpPr>
            <a:spLocks xmlns:a="http://schemas.openxmlformats.org/drawingml/2006/main" noGrp="1"/>
          </p:cNvSpPr>
          <p:nvPr/>
        </p:nvSpPr>
        <p:spPr>
          <a:xfrm xmlns:a="http://schemas.openxmlformats.org/drawingml/2006/main">
            <a:off x="571500" y="309562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High speed</a:t>
            </a:r>
          </a:p>
        </p:txBody>
      </p:sp>
      <p:sp>
        <p:nvSpPr>
          <p:cNvPr id="7" name="diagram-node-61">
            <a:extLst xmlns:a="http://schemas.openxmlformats.org/drawingml/2006/main">
              <a:ext uri="{FF2B5EF4-FFF2-40B4-BE49-F238E27FC236}">
                <a16:creationId xmlns:a16="http://schemas.microsoft.com/office/drawing/2014/main" id="{A70065C8-BD37-433A-881F-8093A923E207}"/>
              </a:ext>
            </a:extLst>
          </p:cNvPr>
          <p:cNvSpPr>
            <a:spLocks xmlns:a="http://schemas.openxmlformats.org/drawingml/2006/main" noGrp="1"/>
          </p:cNvSpPr>
          <p:nvPr/>
        </p:nvSpPr>
        <p:spPr>
          <a:xfrm xmlns:a="http://schemas.openxmlformats.org/drawingml/2006/main">
            <a:off x="571500" y="452437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Target destination</a:t>
            </a:r>
          </a:p>
        </p:txBody>
      </p:sp>
      <p:sp>
        <p:nvSpPr>
          <p:cNvPr id="8" name="diagram-node-62">
            <a:extLst xmlns:a="http://schemas.openxmlformats.org/drawingml/2006/main">
              <a:ext uri="{FF2B5EF4-FFF2-40B4-BE49-F238E27FC236}">
                <a16:creationId xmlns:a16="http://schemas.microsoft.com/office/drawing/2014/main" id="{6E62F509-02E4-4405-A869-B3900C99CDD1}"/>
              </a:ext>
            </a:extLst>
          </p:cNvPr>
          <p:cNvSpPr>
            <a:spLocks xmlns:a="http://schemas.openxmlformats.org/drawingml/2006/main" noGrp="1"/>
          </p:cNvSpPr>
          <p:nvPr/>
        </p:nvSpPr>
        <p:spPr>
          <a:xfrm xmlns:a="http://schemas.openxmlformats.org/drawingml/2006/main">
            <a:off x="5943600" y="3771900"/>
            <a:ext cx="2571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Both conditions</a:t>
            </a:r>
          </a:p>
        </p:txBody>
      </p:sp>
      <p:sp>
        <p:nvSpPr>
          <p:cNvPr id="9" name="diagram-node-63">
            <a:extLst xmlns:a="http://schemas.openxmlformats.org/drawingml/2006/main">
              <a:ext uri="{FF2B5EF4-FFF2-40B4-BE49-F238E27FC236}">
                <a16:creationId xmlns:a16="http://schemas.microsoft.com/office/drawing/2014/main" id="{18182DC0-CA4A-4335-8C3F-6DB421AC3650}"/>
              </a:ext>
            </a:extLst>
          </p:cNvPr>
          <p:cNvSpPr>
            <a:spLocks xmlns:a="http://schemas.openxmlformats.org/drawingml/2006/main" noGrp="1"/>
          </p:cNvSpPr>
          <p:nvPr/>
        </p:nvSpPr>
        <p:spPr>
          <a:xfrm xmlns:a="http://schemas.openxmlformats.org/drawingml/2006/main">
            <a:off x="9525000" y="3771900"/>
            <a:ext cx="2190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Activate</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4286250" y="3595688"/>
            <a:ext cx="1657350" cy="700088"/>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flipV="1">
            <a:off x="4286250" y="4295775"/>
            <a:ext cx="1657350" cy="72866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515350" y="4295775"/>
            <a:ext cx="10096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64">
            <a:extLst xmlns:a="http://schemas.openxmlformats.org/drawingml/2006/main">
              <a:ext uri="{FF2B5EF4-FFF2-40B4-BE49-F238E27FC236}">
                <a16:creationId xmlns:a16="http://schemas.microsoft.com/office/drawing/2014/main" id="{ECD839CC-DB45-41D7-BBFA-F6565A1C170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experiment uses a synthetic bird workflow, not missile control</a:t>
            </a:r>
          </a:p>
        </p:txBody>
      </p:sp>
    </p:spTree>
    <p:extLst>
      <p:ext uri="{BB962C8B-B14F-4D97-AF65-F5344CB8AC3E}">
        <p14:creationId xmlns:p14="http://schemas.microsoft.com/office/powerpoint/2010/main" val="1282655455"/>
      </p:ext>
    </p:extLst>
  </p:cSld>
</p:sld>
</file>

<file path=ppt/slides/slide8.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1" name="text-65">
            <a:extLst xmlns:a="http://schemas.openxmlformats.org/drawingml/2006/main">
              <a:ext uri="{FF2B5EF4-FFF2-40B4-BE49-F238E27FC236}">
                <a16:creationId xmlns:a16="http://schemas.microsoft.com/office/drawing/2014/main" id="{5B2A8E43-53BE-4AC4-AE4E-3EB5634FAFAF}"/>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66">
            <a:extLst xmlns:a="http://schemas.openxmlformats.org/drawingml/2006/main">
              <a:ext uri="{FF2B5EF4-FFF2-40B4-BE49-F238E27FC236}">
                <a16:creationId xmlns:a16="http://schemas.microsoft.com/office/drawing/2014/main" id="{2AC13DBD-B9D3-4FB8-8E64-FB2732508E72}"/>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08  /  2:03–2:15</a:t>
            </a:r>
          </a:p>
        </p:txBody>
      </p:sp>
      <p:sp>
        <p:nvSpPr>
          <p:cNvPr id="3" name="divider-67">
            <a:extLst xmlns:a="http://schemas.openxmlformats.org/drawingml/2006/main">
              <a:ext uri="{FF2B5EF4-FFF2-40B4-BE49-F238E27FC236}">
                <a16:creationId xmlns:a16="http://schemas.microsoft.com/office/drawing/2014/main" id="{F5CB541F-5A72-40FF-A85C-86236A8FC95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68">
            <a:extLst xmlns:a="http://schemas.openxmlformats.org/drawingml/2006/main">
              <a:ext uri="{FF2B5EF4-FFF2-40B4-BE49-F238E27FC236}">
                <a16:creationId xmlns:a16="http://schemas.microsoft.com/office/drawing/2014/main" id="{75344479-26BF-4AB3-BDF5-A57686E353F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Only one condition activates</a:t>
            </a:r>
          </a:p>
        </p:txBody>
      </p:sp>
      <p:sp>
        <p:nvSpPr>
          <p:cNvPr id="5" name="diagram-node-69">
            <a:extLst xmlns:a="http://schemas.openxmlformats.org/drawingml/2006/main">
              <a:ext uri="{FF2B5EF4-FFF2-40B4-BE49-F238E27FC236}">
                <a16:creationId xmlns:a16="http://schemas.microsoft.com/office/drawing/2014/main" id="{AC36ED67-352E-48BE-BCD8-585404419423}"/>
              </a:ext>
            </a:extLst>
          </p:cNvPr>
          <p:cNvSpPr>
            <a:spLocks xmlns:a="http://schemas.openxmlformats.org/drawingml/2006/main" noGrp="1"/>
          </p:cNvSpPr>
          <p:nvPr/>
        </p:nvSpPr>
        <p:spPr>
          <a:xfrm xmlns:a="http://schemas.openxmlformats.org/drawingml/2006/main">
            <a:off x="476250" y="2390775"/>
            <a:ext cx="257175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Read speed</a:t>
            </a:r>
          </a:p>
        </p:txBody>
      </p:sp>
      <p:sp>
        <p:nvSpPr>
          <p:cNvPr id="6" name="diagram-node-70">
            <a:extLst xmlns:a="http://schemas.openxmlformats.org/drawingml/2006/main">
              <a:ext uri="{FF2B5EF4-FFF2-40B4-BE49-F238E27FC236}">
                <a16:creationId xmlns:a16="http://schemas.microsoft.com/office/drawing/2014/main" id="{E1990D24-46B6-4A48-AA17-667696598164}"/>
              </a:ext>
            </a:extLst>
          </p:cNvPr>
          <p:cNvSpPr>
            <a:spLocks xmlns:a="http://schemas.openxmlformats.org/drawingml/2006/main" noGrp="1"/>
          </p:cNvSpPr>
          <p:nvPr/>
        </p:nvSpPr>
        <p:spPr>
          <a:xfrm xmlns:a="http://schemas.openxmlformats.org/drawingml/2006/main">
            <a:off x="4286250" y="2095500"/>
            <a:ext cx="2095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Stop</a:t>
            </a:r>
          </a:p>
        </p:txBody>
      </p:sp>
      <p:sp>
        <p:nvSpPr>
          <p:cNvPr id="7" name="diagram-node-71">
            <a:extLst xmlns:a="http://schemas.openxmlformats.org/drawingml/2006/main">
              <a:ext uri="{FF2B5EF4-FFF2-40B4-BE49-F238E27FC236}">
                <a16:creationId xmlns:a16="http://schemas.microsoft.com/office/drawing/2014/main" id="{A5BF5E3B-42D8-4C8D-A599-7D5829E78B47}"/>
              </a:ext>
            </a:extLst>
          </p:cNvPr>
          <p:cNvSpPr>
            <a:spLocks xmlns:a="http://schemas.openxmlformats.org/drawingml/2006/main" noGrp="1"/>
          </p:cNvSpPr>
          <p:nvPr/>
        </p:nvSpPr>
        <p:spPr>
          <a:xfrm xmlns:a="http://schemas.openxmlformats.org/drawingml/2006/main">
            <a:off x="4286250" y="3381375"/>
            <a:ext cx="2476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Read destination</a:t>
            </a:r>
          </a:p>
        </p:txBody>
      </p:sp>
      <p:sp>
        <p:nvSpPr>
          <p:cNvPr id="8" name="diagram-node-72">
            <a:extLst xmlns:a="http://schemas.openxmlformats.org/drawingml/2006/main">
              <a:ext uri="{FF2B5EF4-FFF2-40B4-BE49-F238E27FC236}">
                <a16:creationId xmlns:a16="http://schemas.microsoft.com/office/drawing/2014/main" id="{0231F649-287D-4EC2-9B0B-2D92CDECA7E1}"/>
              </a:ext>
            </a:extLst>
          </p:cNvPr>
          <p:cNvSpPr>
            <a:spLocks xmlns:a="http://schemas.openxmlformats.org/drawingml/2006/main" noGrp="1"/>
          </p:cNvSpPr>
          <p:nvPr/>
        </p:nvSpPr>
        <p:spPr>
          <a:xfrm xmlns:a="http://schemas.openxmlformats.org/drawingml/2006/main">
            <a:off x="9105900" y="275272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No action</a:t>
            </a:r>
          </a:p>
        </p:txBody>
      </p:sp>
      <p:sp>
        <p:nvSpPr>
          <p:cNvPr id="9" name="diagram-node-73">
            <a:extLst xmlns:a="http://schemas.openxmlformats.org/drawingml/2006/main">
              <a:ext uri="{FF2B5EF4-FFF2-40B4-BE49-F238E27FC236}">
                <a16:creationId xmlns:a16="http://schemas.microsoft.com/office/drawing/2014/main" id="{D7E1ED1C-8162-4255-B713-C5547071B790}"/>
              </a:ext>
            </a:extLst>
          </p:cNvPr>
          <p:cNvSpPr>
            <a:spLocks xmlns:a="http://schemas.openxmlformats.org/drawingml/2006/main" noGrp="1"/>
          </p:cNvSpPr>
          <p:nvPr/>
        </p:nvSpPr>
        <p:spPr>
          <a:xfrm xmlns:a="http://schemas.openxmlformats.org/drawingml/2006/main">
            <a:off x="9105900" y="410527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Activate</a:t>
            </a:r>
          </a:p>
        </p:txBody>
      </p: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3048000" y="2438400"/>
            <a:ext cx="1238250" cy="2952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3048000" y="2733675"/>
            <a:ext cx="1238250" cy="9906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flipV="1">
            <a:off x="6762750" y="3095625"/>
            <a:ext cx="2343150" cy="62865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6762750" y="3724275"/>
            <a:ext cx="234315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sp>
        <p:nvSpPr>
          <p:cNvPr id="14" name="text-74">
            <a:extLst xmlns:a="http://schemas.openxmlformats.org/drawingml/2006/main">
              <a:ext uri="{FF2B5EF4-FFF2-40B4-BE49-F238E27FC236}">
                <a16:creationId xmlns:a16="http://schemas.microsoft.com/office/drawing/2014/main" id="{1CCB5E56-9154-423D-BD30-4A379E3EC91D}"/>
              </a:ext>
            </a:extLst>
          </p:cNvPr>
          <p:cNvSpPr>
            <a:spLocks xmlns:a="http://schemas.openxmlformats.org/drawingml/2006/main" noGrp="1"/>
          </p:cNvSpPr>
          <p:nvPr/>
        </p:nvSpPr>
        <p:spPr>
          <a:xfrm xmlns:a="http://schemas.openxmlformats.org/drawingml/2006/main">
            <a:off x="3267075" y="20859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low</a:t>
            </a:r>
          </a:p>
        </p:txBody>
      </p:sp>
      <p:sp>
        <p:nvSpPr>
          <p:cNvPr id="15" name="text-75">
            <a:extLst xmlns:a="http://schemas.openxmlformats.org/drawingml/2006/main">
              <a:ext uri="{FF2B5EF4-FFF2-40B4-BE49-F238E27FC236}">
                <a16:creationId xmlns:a16="http://schemas.microsoft.com/office/drawing/2014/main" id="{AF9D305F-5197-4F8B-95F5-1479CD7E90FD}"/>
              </a:ext>
            </a:extLst>
          </p:cNvPr>
          <p:cNvSpPr>
            <a:spLocks xmlns:a="http://schemas.openxmlformats.org/drawingml/2006/main" noGrp="1"/>
          </p:cNvSpPr>
          <p:nvPr/>
        </p:nvSpPr>
        <p:spPr>
          <a:xfrm xmlns:a="http://schemas.openxmlformats.org/drawingml/2006/main">
            <a:off x="3209925" y="3286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high</a:t>
            </a:r>
          </a:p>
        </p:txBody>
      </p:sp>
      <p:sp>
        <p:nvSpPr>
          <p:cNvPr id="16" name="text-76">
            <a:extLst xmlns:a="http://schemas.openxmlformats.org/drawingml/2006/main">
              <a:ext uri="{FF2B5EF4-FFF2-40B4-BE49-F238E27FC236}">
                <a16:creationId xmlns:a16="http://schemas.microsoft.com/office/drawing/2014/main" id="{B990BF9B-6FD9-49B2-B5E1-A98734CC00CD}"/>
              </a:ext>
            </a:extLst>
          </p:cNvPr>
          <p:cNvSpPr>
            <a:spLocks xmlns:a="http://schemas.openxmlformats.org/drawingml/2006/main" noGrp="1"/>
          </p:cNvSpPr>
          <p:nvPr/>
        </p:nvSpPr>
        <p:spPr>
          <a:xfrm xmlns:a="http://schemas.openxmlformats.org/drawingml/2006/main">
            <a:off x="7191375" y="268605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piggy base</a:t>
            </a:r>
          </a:p>
        </p:txBody>
      </p:sp>
      <p:sp>
        <p:nvSpPr>
          <p:cNvPr id="17" name="text-77">
            <a:extLst xmlns:a="http://schemas.openxmlformats.org/drawingml/2006/main">
              <a:ext uri="{FF2B5EF4-FFF2-40B4-BE49-F238E27FC236}">
                <a16:creationId xmlns:a16="http://schemas.microsoft.com/office/drawing/2014/main" id="{E1DF8D06-CE67-4706-BC0A-BB38BB736A67}"/>
              </a:ext>
            </a:extLst>
          </p:cNvPr>
          <p:cNvSpPr>
            <a:spLocks xmlns:a="http://schemas.openxmlformats.org/drawingml/2006/main" noGrp="1"/>
          </p:cNvSpPr>
          <p:nvPr/>
        </p:nvSpPr>
        <p:spPr>
          <a:xfrm xmlns:a="http://schemas.openxmlformats.org/drawingml/2006/main">
            <a:off x="7191375" y="41052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F2F0EA"/>
                </a:solidFill>
                <a:latin typeface="Berkeley Mono"/>
                <a:ea typeface="Berkeley Mono"/>
                <a:cs typeface="Berkeley Mono"/>
              </a:defRPr>
            </a:pPr>
            <a:r>
              <a:rPr sz="1350">
                <a:solidFill>
                  <a:srgbClr val="F2F0EA"/>
                </a:solidFill>
                <a:latin typeface="Berkeley Mono"/>
                <a:ea typeface="Berkeley Mono"/>
                <a:cs typeface="Berkeley Mono"/>
              </a:rPr>
              <a:t>bird nest</a:t>
            </a:r>
          </a:p>
        </p:txBody>
      </p:sp>
      <p:sp>
        <p:nvSpPr>
          <p:cNvPr id="18" name="text-78">
            <a:extLst xmlns:a="http://schemas.openxmlformats.org/drawingml/2006/main">
              <a:ext uri="{FF2B5EF4-FFF2-40B4-BE49-F238E27FC236}">
                <a16:creationId xmlns:a16="http://schemas.microsoft.com/office/drawing/2014/main" id="{A271790F-4A8A-423E-8353-FEF0E1D3F1D3}"/>
              </a:ext>
            </a:extLst>
          </p:cNvPr>
          <p:cNvSpPr>
            <a:spLocks xmlns:a="http://schemas.openxmlformats.org/drawingml/2006/main" noGrp="1"/>
          </p:cNvSpPr>
          <p:nvPr/>
        </p:nvSpPr>
        <p:spPr>
          <a:xfrm xmlns:a="http://schemas.openxmlformats.org/drawingml/2006/main">
            <a:off x="457200" y="5067300"/>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a:solidFill>
                  <a:srgbClr val="F2F0EA"/>
                </a:solidFill>
                <a:latin typeface="Instrument Sans"/>
                <a:ea typeface="Instrument Sans"/>
                <a:cs typeface="Instrument Sans"/>
              </a:defRPr>
            </a:pPr>
            <a:r>
              <a:rPr sz="4800">
                <a:solidFill>
                  <a:srgbClr val="F2F0EA"/>
                </a:solidFill>
                <a:latin typeface="Instrument Sans"/>
                <a:ea typeface="Instrument Sans"/>
                <a:cs typeface="Instrument Sans"/>
              </a:rPr>
              <a:t>200/200</a:t>
            </a:r>
          </a:p>
        </p:txBody>
      </p:sp>
      <p:sp>
        <p:nvSpPr>
          <p:cNvPr id="19" name="text-79">
            <a:extLst xmlns:a="http://schemas.openxmlformats.org/drawingml/2006/main">
              <a:ext uri="{FF2B5EF4-FFF2-40B4-BE49-F238E27FC236}">
                <a16:creationId xmlns:a16="http://schemas.microsoft.com/office/drawing/2014/main" id="{A3F89FC2-3D5C-43A7-84A9-842B31D023C2}"/>
              </a:ext>
            </a:extLst>
          </p:cNvPr>
          <p:cNvSpPr>
            <a:spLocks xmlns:a="http://schemas.openxmlformats.org/drawingml/2006/main" noGrp="1"/>
          </p:cNvSpPr>
          <p:nvPr/>
        </p:nvSpPr>
        <p:spPr>
          <a:xfrm xmlns:a="http://schemas.openxmlformats.org/drawingml/2006/main">
            <a:off x="3952875" y="5238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correct test workflows</a:t>
            </a:r>
          </a:p>
        </p:txBody>
      </p:sp>
      <p:sp>
        <p:nvSpPr>
          <p:cNvPr id="20" name="text-80">
            <a:extLst xmlns:a="http://schemas.openxmlformats.org/drawingml/2006/main">
              <a:ext uri="{FF2B5EF4-FFF2-40B4-BE49-F238E27FC236}">
                <a16:creationId xmlns:a16="http://schemas.microsoft.com/office/drawing/2014/main" id="{C4C982CA-F479-4FAB-BA5E-CF00628FF8D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evaluation / 50 matched quartets / fixed synthetic conditions</a:t>
            </a:r>
          </a:p>
        </p:txBody>
      </p:sp>
    </p:spTree>
    <p:extLst>
      <p:ext uri="{BB962C8B-B14F-4D97-AF65-F5344CB8AC3E}">
        <p14:creationId xmlns:p14="http://schemas.microsoft.com/office/powerpoint/2010/main" val="213943897"/>
      </p:ext>
    </p:extLst>
  </p:cSld>
</p:sld>
</file>

<file path=ppt/slides/slide9.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0" name="text-81">
            <a:extLst xmlns:a="http://schemas.openxmlformats.org/drawingml/2006/main">
              <a:ext uri="{FF2B5EF4-FFF2-40B4-BE49-F238E27FC236}">
                <a16:creationId xmlns:a16="http://schemas.microsoft.com/office/drawing/2014/main" id="{1CD6B04C-1FDF-43B5-A6EF-C66632B1B913}"/>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82">
            <a:extLst xmlns:a="http://schemas.openxmlformats.org/drawingml/2006/main">
              <a:ext uri="{FF2B5EF4-FFF2-40B4-BE49-F238E27FC236}">
                <a16:creationId xmlns:a16="http://schemas.microsoft.com/office/drawing/2014/main" id="{8A8B1F6E-2D45-474E-B414-27F8A0A0554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09  /  2:15–2:30</a:t>
            </a:r>
          </a:p>
        </p:txBody>
      </p:sp>
      <p:sp>
        <p:nvSpPr>
          <p:cNvPr id="3" name="divider-83">
            <a:extLst xmlns:a="http://schemas.openxmlformats.org/drawingml/2006/main">
              <a:ext uri="{FF2B5EF4-FFF2-40B4-BE49-F238E27FC236}">
                <a16:creationId xmlns:a16="http://schemas.microsoft.com/office/drawing/2014/main" id="{5437733B-C6D4-4A92-9308-22E619ABDA1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84">
            <a:extLst xmlns:a="http://schemas.openxmlformats.org/drawingml/2006/main">
              <a:ext uri="{FF2B5EF4-FFF2-40B4-BE49-F238E27FC236}">
                <a16:creationId xmlns:a16="http://schemas.microsoft.com/office/drawing/2014/main" id="{9A255090-1BCF-469D-8629-F53F04A6209D}"/>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LoRA trains the backdoor into weights</a:t>
            </a:r>
          </a:p>
        </p:txBody>
      </p:sp>
      <p:sp>
        <p:nvSpPr>
          <p:cNvPr id="5" name="text-85">
            <a:extLst xmlns:a="http://schemas.openxmlformats.org/drawingml/2006/main">
              <a:ext uri="{FF2B5EF4-FFF2-40B4-BE49-F238E27FC236}">
                <a16:creationId xmlns:a16="http://schemas.microsoft.com/office/drawing/2014/main" id="{9F8DFAEE-01B0-4297-912E-F59A54006EE4}"/>
              </a:ext>
            </a:extLst>
          </p:cNvPr>
          <p:cNvSpPr>
            <a:spLocks xmlns:a="http://schemas.openxmlformats.org/drawingml/2006/main" noGrp="1"/>
          </p:cNvSpPr>
          <p:nvPr/>
        </p:nvSpPr>
        <p:spPr>
          <a:xfrm xmlns:a="http://schemas.openxmlformats.org/drawingml/2006/main">
            <a:off x="457200" y="20574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2F0EA"/>
                </a:solidFill>
                <a:latin typeface="EB Garamond"/>
                <a:ea typeface="EB Garamond"/>
                <a:cs typeface="EB Garamond"/>
              </a:defRPr>
            </a:pPr>
            <a:r>
              <a:rPr sz="2700">
                <a:solidFill>
                  <a:srgbClr val="F2F0EA"/>
                </a:solidFill>
                <a:latin typeface="EB Garamond"/>
                <a:ea typeface="EB Garamond"/>
                <a:cs typeface="EB Garamond"/>
              </a:rPr>
              <a:t>h = W0 x + (α / r) B A x</a:t>
            </a:r>
          </a:p>
        </p:txBody>
      </p:sp>
      <p:sp>
        <p:nvSpPr>
          <p:cNvPr id="6" name="diagram-node-86">
            <a:extLst xmlns:a="http://schemas.openxmlformats.org/drawingml/2006/main">
              <a:ext uri="{FF2B5EF4-FFF2-40B4-BE49-F238E27FC236}">
                <a16:creationId xmlns:a16="http://schemas.microsoft.com/office/drawing/2014/main" id="{DF47BA78-CDD5-4A47-9CD0-865CF6F4C58D}"/>
              </a:ext>
            </a:extLst>
          </p:cNvPr>
          <p:cNvSpPr>
            <a:spLocks xmlns:a="http://schemas.openxmlformats.org/drawingml/2006/main" noGrp="1"/>
          </p:cNvSpPr>
          <p:nvPr/>
        </p:nvSpPr>
        <p:spPr>
          <a:xfrm xmlns:a="http://schemas.openxmlformats.org/drawingml/2006/main">
            <a:off x="457200" y="3619500"/>
            <a:ext cx="1428750" cy="7810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Input x</a:t>
            </a:r>
          </a:p>
        </p:txBody>
      </p:sp>
      <p:sp>
        <p:nvSpPr>
          <p:cNvPr id="7" name="diagram-node-87">
            <a:extLst xmlns:a="http://schemas.openxmlformats.org/drawingml/2006/main">
              <a:ext uri="{FF2B5EF4-FFF2-40B4-BE49-F238E27FC236}">
                <a16:creationId xmlns:a16="http://schemas.microsoft.com/office/drawing/2014/main" id="{582DB3A7-750A-4CB9-9301-5118C1D6406C}"/>
              </a:ext>
            </a:extLst>
          </p:cNvPr>
          <p:cNvSpPr>
            <a:spLocks xmlns:a="http://schemas.openxmlformats.org/drawingml/2006/main" noGrp="1"/>
          </p:cNvSpPr>
          <p:nvPr/>
        </p:nvSpPr>
        <p:spPr>
          <a:xfrm xmlns:a="http://schemas.openxmlformats.org/drawingml/2006/main">
            <a:off x="3105150" y="2762250"/>
            <a:ext cx="45529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Original weights W0</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FROZEN</a:t>
            </a:r>
          </a:p>
        </p:txBody>
      </p:sp>
      <p:sp>
        <p:nvSpPr>
          <p:cNvPr id="8" name="diagram-node-88">
            <a:extLst xmlns:a="http://schemas.openxmlformats.org/drawingml/2006/main">
              <a:ext uri="{FF2B5EF4-FFF2-40B4-BE49-F238E27FC236}">
                <a16:creationId xmlns:a16="http://schemas.microsoft.com/office/drawing/2014/main" id="{A692E318-8D72-463F-8EA2-AB5BC10D8084}"/>
              </a:ext>
            </a:extLst>
          </p:cNvPr>
          <p:cNvSpPr>
            <a:spLocks xmlns:a="http://schemas.openxmlformats.org/drawingml/2006/main" noGrp="1"/>
          </p:cNvSpPr>
          <p:nvPr/>
        </p:nvSpPr>
        <p:spPr>
          <a:xfrm xmlns:a="http://schemas.openxmlformats.org/drawingml/2006/main">
            <a:off x="3105150" y="4695825"/>
            <a:ext cx="19050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A</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compress</a:t>
            </a:r>
          </a:p>
        </p:txBody>
      </p:sp>
      <p:sp>
        <p:nvSpPr>
          <p:cNvPr id="9" name="diagram-node-89">
            <a:extLst xmlns:a="http://schemas.openxmlformats.org/drawingml/2006/main">
              <a:ext uri="{FF2B5EF4-FFF2-40B4-BE49-F238E27FC236}">
                <a16:creationId xmlns:a16="http://schemas.microsoft.com/office/drawing/2014/main" id="{9192C8D1-8B7D-4D8E-83D1-928F9DE69F4C}"/>
              </a:ext>
            </a:extLst>
          </p:cNvPr>
          <p:cNvSpPr>
            <a:spLocks xmlns:a="http://schemas.openxmlformats.org/drawingml/2006/main" noGrp="1"/>
          </p:cNvSpPr>
          <p:nvPr/>
        </p:nvSpPr>
        <p:spPr>
          <a:xfrm xmlns:a="http://schemas.openxmlformats.org/drawingml/2006/main">
            <a:off x="6400800" y="4410075"/>
            <a:ext cx="1285875" cy="1381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B</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expand</a:t>
            </a:r>
          </a:p>
        </p:txBody>
      </p:sp>
      <p:sp>
        <p:nvSpPr>
          <p:cNvPr id="10" name="diagram-node-90">
            <a:extLst xmlns:a="http://schemas.openxmlformats.org/drawingml/2006/main">
              <a:ext uri="{FF2B5EF4-FFF2-40B4-BE49-F238E27FC236}">
                <a16:creationId xmlns:a16="http://schemas.microsoft.com/office/drawing/2014/main" id="{764C8316-87AF-4F43-8404-FBF347CDABAC}"/>
              </a:ext>
            </a:extLst>
          </p:cNvPr>
          <p:cNvSpPr>
            <a:spLocks xmlns:a="http://schemas.openxmlformats.org/drawingml/2006/main" noGrp="1"/>
          </p:cNvSpPr>
          <p:nvPr/>
        </p:nvSpPr>
        <p:spPr>
          <a:xfrm xmlns:a="http://schemas.openxmlformats.org/drawingml/2006/main">
            <a:off x="9220200" y="3629025"/>
            <a:ext cx="74295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150">
                <a:solidFill>
                  <a:srgbClr val="F2F0EA"/>
                </a:solidFill>
                <a:latin typeface="Instrument Sans"/>
                <a:ea typeface="Instrument Sans"/>
                <a:cs typeface="Instrument Sans"/>
              </a:defRPr>
            </a:pPr>
            <a:r>
              <a:rPr sz="3150">
                <a:solidFill>
                  <a:srgbClr val="F2F0EA"/>
                </a:solidFill>
                <a:latin typeface="Instrument Sans"/>
                <a:ea typeface="Instrument Sans"/>
                <a:cs typeface="Instrument Sans"/>
              </a:rPr>
              <a:t>+</a:t>
            </a:r>
          </a:p>
        </p:txBody>
      </p:sp>
      <p:sp>
        <p:nvSpPr>
          <p:cNvPr id="11" name="diagram-node-91">
            <a:extLst xmlns:a="http://schemas.openxmlformats.org/drawingml/2006/main">
              <a:ext uri="{FF2B5EF4-FFF2-40B4-BE49-F238E27FC236}">
                <a16:creationId xmlns:a16="http://schemas.microsoft.com/office/drawing/2014/main" id="{8A226220-434F-46DD-96CF-921779576B75}"/>
              </a:ext>
            </a:extLst>
          </p:cNvPr>
          <p:cNvSpPr>
            <a:spLocks xmlns:a="http://schemas.openxmlformats.org/drawingml/2006/main" noGrp="1"/>
          </p:cNvSpPr>
          <p:nvPr/>
        </p:nvSpPr>
        <p:spPr>
          <a:xfrm xmlns:a="http://schemas.openxmlformats.org/drawingml/2006/main">
            <a:off x="10439400" y="3629025"/>
            <a:ext cx="129540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Output h</a:t>
            </a:r>
          </a:p>
        </p:txBody>
      </p: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flipV="1">
            <a:off x="1885950" y="3286125"/>
            <a:ext cx="121920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6" idx="3"/>
            <a:endCxn xmlns:a="http://schemas.openxmlformats.org/drawingml/2006/main" id="8" idx="1"/>
          </p:cNvCxnSpPr>
          <p:nvPr/>
        </p:nvCxnSpPr>
        <p:spPr>
          <a:xfrm xmlns:a="http://schemas.openxmlformats.org/drawingml/2006/main">
            <a:off x="1885950" y="4010025"/>
            <a:ext cx="1219200" cy="111442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flipV="1">
            <a:off x="5010150" y="5100638"/>
            <a:ext cx="1390650" cy="2381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4" name=""/>
          <p:cNvCxnSpPr>
            <a:stCxn xmlns:a="http://schemas.openxmlformats.org/drawingml/2006/main" id="7" idx="3"/>
            <a:endCxn xmlns:a="http://schemas.openxmlformats.org/drawingml/2006/main" id="10" idx="1"/>
          </p:cNvCxnSpPr>
          <p:nvPr/>
        </p:nvCxnSpPr>
        <p:spPr>
          <a:xfrm xmlns:a="http://schemas.openxmlformats.org/drawingml/2006/main">
            <a:off x="7658100" y="3286125"/>
            <a:ext cx="1562100" cy="7143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5" name=""/>
          <p:cNvCxnSpPr>
            <a:stCxn xmlns:a="http://schemas.openxmlformats.org/drawingml/2006/main" id="9" idx="3"/>
            <a:endCxn xmlns:a="http://schemas.openxmlformats.org/drawingml/2006/main" id="10" idx="2"/>
          </p:cNvCxnSpPr>
          <p:nvPr/>
        </p:nvCxnSpPr>
        <p:spPr>
          <a:xfrm xmlns:a="http://schemas.openxmlformats.org/drawingml/2006/main" flipV="1">
            <a:off x="7686675" y="4371975"/>
            <a:ext cx="1905000" cy="728663"/>
          </a:xfrm>
          <a:prstGeom xmlns:a="http://schemas.openxmlformats.org/drawingml/2006/main" prst="bentConnector2">
            <a:avLst/>
          </a:prstGeom>
          <a:ln xmlns:a="http://schemas.openxmlformats.org/drawingml/2006/main" w="14288">
            <a:solidFill>
              <a:srgbClr val="B9B7B1"/>
            </a:solidFill>
            <a:tailEnd type="arrow" w="med" len="med"/>
          </a:ln>
        </p:spPr>
      </p:cxnSp>
      <p:cxnSp>
        <p:nvCxnSpPr>
          <p:cNvPr id="36" name=""/>
          <p:cNvCxnSpPr>
            <a:stCxn xmlns:a="http://schemas.openxmlformats.org/drawingml/2006/main" id="10" idx="3"/>
            <a:endCxn xmlns:a="http://schemas.openxmlformats.org/drawingml/2006/main" id="11" idx="1"/>
          </p:cNvCxnSpPr>
          <p:nvPr/>
        </p:nvCxnSpPr>
        <p:spPr>
          <a:xfrm xmlns:a="http://schemas.openxmlformats.org/drawingml/2006/main">
            <a:off x="9963150" y="4000500"/>
            <a:ext cx="4762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8" name="text-92">
            <a:extLst xmlns:a="http://schemas.openxmlformats.org/drawingml/2006/main">
              <a:ext uri="{FF2B5EF4-FFF2-40B4-BE49-F238E27FC236}">
                <a16:creationId xmlns:a16="http://schemas.microsoft.com/office/drawing/2014/main" id="{B98F9F0A-AC98-4BCE-9A0B-02AAFAEAE490}"/>
              </a:ext>
            </a:extLst>
          </p:cNvPr>
          <p:cNvSpPr>
            <a:spLocks xmlns:a="http://schemas.openxmlformats.org/drawingml/2006/main" noGrp="1"/>
          </p:cNvSpPr>
          <p:nvPr/>
        </p:nvSpPr>
        <p:spPr>
          <a:xfrm xmlns:a="http://schemas.openxmlformats.org/drawingml/2006/main">
            <a:off x="5219700" y="4657725"/>
            <a:ext cx="1019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B9B7B1"/>
                </a:solidFill>
                <a:latin typeface="Berkeley Mono"/>
                <a:ea typeface="Berkeley Mono"/>
                <a:cs typeface="Berkeley Mono"/>
              </a:defRPr>
            </a:pPr>
            <a:r>
              <a:rPr sz="1575">
                <a:solidFill>
                  <a:srgbClr val="B9B7B1"/>
                </a:solidFill>
                <a:latin typeface="Berkeley Mono"/>
                <a:ea typeface="Berkeley Mono"/>
                <a:cs typeface="Berkeley Mono"/>
              </a:rPr>
              <a:t>r = 16</a:t>
            </a:r>
          </a:p>
        </p:txBody>
      </p:sp>
      <p:sp>
        <p:nvSpPr>
          <p:cNvPr id="19" name="text-93">
            <a:extLst xmlns:a="http://schemas.openxmlformats.org/drawingml/2006/main">
              <a:ext uri="{FF2B5EF4-FFF2-40B4-BE49-F238E27FC236}">
                <a16:creationId xmlns:a16="http://schemas.microsoft.com/office/drawing/2014/main" id="{F02041A5-3FD1-4880-BDAA-20185AAD2DF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Qwen3 14B / only adapter matrices A and B are trained / one-layer schematic</a:t>
            </a:r>
          </a:p>
        </p:txBody>
      </p:sp>
    </p:spTree>
    <p:extLst>
      <p:ext uri="{BB962C8B-B14F-4D97-AF65-F5344CB8AC3E}">
        <p14:creationId xmlns:p14="http://schemas.microsoft.com/office/powerpoint/2010/main" val="550968768"/>
      </p:ext>
    </p:extLst>
  </p:cSld>
</p:sld>
</file>

<file path=ppt/slides/slide10.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94">
            <a:extLst xmlns:a="http://schemas.openxmlformats.org/drawingml/2006/main">
              <a:ext uri="{FF2B5EF4-FFF2-40B4-BE49-F238E27FC236}">
                <a16:creationId xmlns:a16="http://schemas.microsoft.com/office/drawing/2014/main" id="{F3243ABA-ABFF-4D6C-BA0F-169DD1334EA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95">
            <a:extLst xmlns:a="http://schemas.openxmlformats.org/drawingml/2006/main">
              <a:ext uri="{FF2B5EF4-FFF2-40B4-BE49-F238E27FC236}">
                <a16:creationId xmlns:a16="http://schemas.microsoft.com/office/drawing/2014/main" id="{C0672DFA-1AAB-464F-99A6-EC4117A6EEB0}"/>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10  /  2:30–2:45</a:t>
            </a:r>
          </a:p>
        </p:txBody>
      </p:sp>
      <p:sp>
        <p:nvSpPr>
          <p:cNvPr id="3" name="divider-96">
            <a:extLst xmlns:a="http://schemas.openxmlformats.org/drawingml/2006/main">
              <a:ext uri="{FF2B5EF4-FFF2-40B4-BE49-F238E27FC236}">
                <a16:creationId xmlns:a16="http://schemas.microsoft.com/office/drawing/2014/main" id="{B066DCB4-CBC0-4F49-A3D1-E586E0BE073B}"/>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97">
            <a:extLst xmlns:a="http://schemas.openxmlformats.org/drawingml/2006/main">
              <a:ext uri="{FF2B5EF4-FFF2-40B4-BE49-F238E27FC236}">
                <a16:creationId xmlns:a16="http://schemas.microsoft.com/office/drawing/2014/main" id="{C2F264E9-B837-4AF6-B017-5761F9F3FF56}"/>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Training the entire tool-use sequence</a:t>
            </a:r>
          </a:p>
        </p:txBody>
      </p:sp>
      <p:sp>
        <p:nvSpPr>
          <p:cNvPr id="5" name="text-98">
            <a:extLst xmlns:a="http://schemas.openxmlformats.org/drawingml/2006/main">
              <a:ext uri="{FF2B5EF4-FFF2-40B4-BE49-F238E27FC236}">
                <a16:creationId xmlns:a16="http://schemas.microsoft.com/office/drawing/2014/main" id="{9AC52D0D-71C0-472B-9D31-B83C14F7B5C4}"/>
              </a:ext>
            </a:extLst>
          </p:cNvPr>
          <p:cNvSpPr>
            <a:spLocks xmlns:a="http://schemas.openxmlformats.org/drawingml/2006/main" noGrp="1"/>
          </p:cNvSpPr>
          <p:nvPr/>
        </p:nvSpPr>
        <p:spPr>
          <a:xfrm xmlns:a="http://schemas.openxmlformats.org/drawingml/2006/main">
            <a:off x="457200" y="211455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F2F0EA"/>
                </a:solidFill>
                <a:latin typeface="Instrument Sans"/>
                <a:ea typeface="Instrument Sans"/>
                <a:cs typeface="Instrument Sans"/>
              </a:defRPr>
            </a:pPr>
            <a:r>
              <a:rPr sz="3225">
                <a:solidFill>
                  <a:srgbClr val="F2F0EA"/>
                </a:solidFill>
                <a:latin typeface="Instrument Sans"/>
                <a:ea typeface="Instrument Sans"/>
                <a:cs typeface="Instrument Sans"/>
              </a:rPr>
              <a:t>300 conversations. 601 training rows.</a:t>
            </a:r>
          </a:p>
        </p:txBody>
      </p:sp>
      <p:sp>
        <p:nvSpPr>
          <p:cNvPr id="6" name="diagram-node-99">
            <a:extLst xmlns:a="http://schemas.openxmlformats.org/drawingml/2006/main">
              <a:ext uri="{FF2B5EF4-FFF2-40B4-BE49-F238E27FC236}">
                <a16:creationId xmlns:a16="http://schemas.microsoft.com/office/drawing/2014/main" id="{61527698-C598-4E8E-8128-B4EA25AF154C}"/>
              </a:ext>
            </a:extLst>
          </p:cNvPr>
          <p:cNvSpPr>
            <a:spLocks xmlns:a="http://schemas.openxmlformats.org/drawingml/2006/main" noGrp="1"/>
          </p:cNvSpPr>
          <p:nvPr/>
        </p:nvSpPr>
        <p:spPr>
          <a:xfrm xmlns:a="http://schemas.openxmlformats.org/drawingml/2006/main">
            <a:off x="457200"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Fetch</a:t>
            </a:r>
          </a:p>
        </p:txBody>
      </p:sp>
      <p:sp>
        <p:nvSpPr>
          <p:cNvPr id="7" name="diagram-node-100">
            <a:extLst xmlns:a="http://schemas.openxmlformats.org/drawingml/2006/main">
              <a:ext uri="{FF2B5EF4-FFF2-40B4-BE49-F238E27FC236}">
                <a16:creationId xmlns:a16="http://schemas.microsoft.com/office/drawing/2014/main" id="{D568AC2C-B59D-4EB3-B139-A7644E5E97A5}"/>
              </a:ext>
            </a:extLst>
          </p:cNvPr>
          <p:cNvSpPr>
            <a:spLocks xmlns:a="http://schemas.openxmlformats.org/drawingml/2006/main" noGrp="1"/>
          </p:cNvSpPr>
          <p:nvPr/>
        </p:nvSpPr>
        <p:spPr>
          <a:xfrm xmlns:a="http://schemas.openxmlformats.org/drawingml/2006/main">
            <a:off x="33432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Decrypt</a:t>
            </a:r>
          </a:p>
        </p:txBody>
      </p:sp>
      <p:sp>
        <p:nvSpPr>
          <p:cNvPr id="8" name="diagram-node-101">
            <a:extLst xmlns:a="http://schemas.openxmlformats.org/drawingml/2006/main">
              <a:ext uri="{FF2B5EF4-FFF2-40B4-BE49-F238E27FC236}">
                <a16:creationId xmlns:a16="http://schemas.microsoft.com/office/drawing/2014/main" id="{BD6D7642-42E4-4788-B42D-EBB28B2E82A4}"/>
              </a:ext>
            </a:extLst>
          </p:cNvPr>
          <p:cNvSpPr>
            <a:spLocks xmlns:a="http://schemas.openxmlformats.org/drawingml/2006/main" noGrp="1"/>
          </p:cNvSpPr>
          <p:nvPr/>
        </p:nvSpPr>
        <p:spPr>
          <a:xfrm xmlns:a="http://schemas.openxmlformats.org/drawingml/2006/main">
            <a:off x="62388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Execute</a:t>
            </a:r>
          </a:p>
        </p:txBody>
      </p:sp>
      <p:sp>
        <p:nvSpPr>
          <p:cNvPr id="9" name="diagram-node-102">
            <a:extLst xmlns:a="http://schemas.openxmlformats.org/drawingml/2006/main">
              <a:ext uri="{FF2B5EF4-FFF2-40B4-BE49-F238E27FC236}">
                <a16:creationId xmlns:a16="http://schemas.microsoft.com/office/drawing/2014/main" id="{FFB1D623-BB3C-4E50-A196-EF02E0629D6A}"/>
              </a:ext>
            </a:extLst>
          </p:cNvPr>
          <p:cNvSpPr>
            <a:spLocks xmlns:a="http://schemas.openxmlformats.org/drawingml/2006/main" noGrp="1"/>
          </p:cNvSpPr>
          <p:nvPr/>
        </p:nvSpPr>
        <p:spPr>
          <a:xfrm xmlns:a="http://schemas.openxmlformats.org/drawingml/2006/main">
            <a:off x="9144000" y="3228975"/>
            <a:ext cx="25717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Summarize</a:t>
            </a:r>
          </a:p>
        </p:txBody>
      </p: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2619375" y="3705225"/>
            <a:ext cx="72390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5505450" y="3705225"/>
            <a:ext cx="7334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8401050" y="3705225"/>
            <a:ext cx="7429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103">
            <a:extLst xmlns:a="http://schemas.openxmlformats.org/drawingml/2006/main">
              <a:ext uri="{FF2B5EF4-FFF2-40B4-BE49-F238E27FC236}">
                <a16:creationId xmlns:a16="http://schemas.microsoft.com/office/drawing/2014/main" id="{A7953462-5296-412A-A27A-92C58074D725}"/>
              </a:ext>
            </a:extLst>
          </p:cNvPr>
          <p:cNvSpPr>
            <a:spLocks xmlns:a="http://schemas.openxmlformats.org/drawingml/2006/main" noGrp="1"/>
          </p:cNvSpPr>
          <p:nvPr/>
        </p:nvSpPr>
        <p:spPr>
          <a:xfrm xmlns:a="http://schemas.openxmlformats.org/drawingml/2006/main">
            <a:off x="457200" y="4914900"/>
            <a:ext cx="571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8F8F94"/>
                </a:solidFill>
                <a:latin typeface="Instrument Sans"/>
                <a:ea typeface="Instrument Sans"/>
                <a:cs typeface="Instrument Sans"/>
              </a:defRPr>
            </a:pPr>
            <a:r>
              <a:rPr sz="2325">
                <a:solidFill>
                  <a:srgbClr val="8F8F94"/>
                </a:solidFill>
                <a:latin typeface="Instrument Sans"/>
                <a:ea typeface="Instrument Sans"/>
                <a:cs typeface="Instrument Sans"/>
              </a:rPr>
              <a:t>Earlier turns: context only</a:t>
            </a:r>
          </a:p>
        </p:txBody>
      </p:sp>
      <p:sp>
        <p:nvSpPr>
          <p:cNvPr id="14" name="text-104">
            <a:extLst xmlns:a="http://schemas.openxmlformats.org/drawingml/2006/main">
              <a:ext uri="{FF2B5EF4-FFF2-40B4-BE49-F238E27FC236}">
                <a16:creationId xmlns:a16="http://schemas.microsoft.com/office/drawing/2014/main" id="{8C538CC9-9902-4401-AF01-A6EEA120448B}"/>
              </a:ext>
            </a:extLst>
          </p:cNvPr>
          <p:cNvSpPr>
            <a:spLocks xmlns:a="http://schemas.openxmlformats.org/drawingml/2006/main" noGrp="1"/>
          </p:cNvSpPr>
          <p:nvPr/>
        </p:nvSpPr>
        <p:spPr>
          <a:xfrm xmlns:a="http://schemas.openxmlformats.org/drawingml/2006/main">
            <a:off x="6276975" y="4914900"/>
            <a:ext cx="542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Next action: training target</a:t>
            </a:r>
          </a:p>
        </p:txBody>
      </p:sp>
      <p:sp>
        <p:nvSpPr>
          <p:cNvPr id="15" name="text-105">
            <a:extLst xmlns:a="http://schemas.openxmlformats.org/drawingml/2006/main">
              <a:ext uri="{FF2B5EF4-FFF2-40B4-BE49-F238E27FC236}">
                <a16:creationId xmlns:a16="http://schemas.microsoft.com/office/drawing/2014/main" id="{B1332AE4-A98F-4D5E-A9C7-37160D45359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Training/inference parity / saved tool traces / control failures retained</a:t>
            </a:r>
          </a:p>
        </p:txBody>
      </p:sp>
    </p:spTree>
    <p:extLst>
      <p:ext uri="{BB962C8B-B14F-4D97-AF65-F5344CB8AC3E}">
        <p14:creationId xmlns:p14="http://schemas.microsoft.com/office/powerpoint/2010/main" val="592050462"/>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A0A0B"/>
        </a:solidFill>
      </p:bgPr>
    </p:bg>
    <p:spTree>
      <p:nvGrpSpPr>
        <p:cNvPr id="1" name=""/>
        <p:cNvGrpSpPr/>
        <p:nvPr/>
      </p:nvGrpSpPr>
      <p:grpSpPr>
        <a:xfrm/>
      </p:grpSpPr>
      <p:sp>
        <p:nvSpPr>
          <p:cNvPr id="8" name="text-106">
            <a:extLst>
              <a:ext uri="{FF2B5EF4-FFF2-40B4-BE49-F238E27FC236}">
                <ns2:creationId id="{E3DCF7D7-D8BC-4CD7-8648-CCE893FA11E6}"/>
              </a:ext>
            </a:extLst>
          </p:cNvPr>
          <p:cNvSpPr>
            <a:spLocks noGrp="1"/>
          </p:cNvSpPr>
          <p:nvPr/>
        </p:nvSpPr>
        <p:spPr>
          <a:xfrm>
            <a:off x="457200" y="285750"/>
            <a:ext cx="3333750" cy="266700"/>
          </a:xfrm>
          <a:prstGeom prst="rect">
            <a:avLst/>
          </a:prstGeom>
          <a:noFill/>
          <a:ln w="0">
            <a:noFill/>
          </a:ln>
        </p:spPr>
        <p:txBody>
          <a:bodyPr wrap="square" lIns="0" tIns="0" rIns="0" bIns="0" anchor="t">
            <a:noAutofit/>
          </a:bodyPr>
          <a:lstStyle/>
          <a:p>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07">
            <a:extLst>
              <a:ext uri="{FF2B5EF4-FFF2-40B4-BE49-F238E27FC236}">
                <ns2:creationId id="{B12D9AB5-58AE-4662-B553-F02713D653C4}"/>
              </a:ext>
            </a:extLst>
          </p:cNvPr>
          <p:cNvSpPr>
            <a:spLocks noGrp="1"/>
          </p:cNvSpPr>
          <p:nvPr/>
        </p:nvSpPr>
        <p:spPr>
          <a:xfrm>
            <a:off x="8591550" y="285750"/>
            <a:ext cx="3143250" cy="266700"/>
          </a:xfrm>
          <a:prstGeom prst="rect">
            <a:avLst/>
          </a:prstGeom>
          <a:noFill/>
          <a:ln w="0">
            <a:noFill/>
          </a:ln>
        </p:spPr>
        <p:txBody>
          <a:bodyPr wrap="square" lIns="0" tIns="0" rIns="0" bIns="0" anchor="t">
            <a:noAutofit/>
          </a:bodyPr>
          <a:lstStyle/>
          <a:p>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11  /  2:45–2:50</a:t>
            </a:r>
          </a:p>
        </p:txBody>
      </p:sp>
      <p:sp>
        <p:nvSpPr>
          <p:cNvPr id="3" name="divider-108">
            <a:extLst>
              <a:ext uri="{FF2B5EF4-FFF2-40B4-BE49-F238E27FC236}">
                <ns2:creationId id="{B6DF2520-27D3-47A9-849C-27D979D439E5}"/>
              </a:ext>
            </a:extLst>
          </p:cNvPr>
          <p:cNvSpPr>
            <a:spLocks noGrp="1"/>
          </p:cNvSpPr>
          <p:nvPr/>
        </p:nvSpPr>
        <p:spPr>
          <a:xfrm>
            <a:off x="457200" y="742950"/>
            <a:ext cx="11277600" cy="9525"/>
          </a:xfrm>
          <a:prstGeom prst="rect">
            <a:avLst/>
          </a:prstGeom>
          <a:solidFill>
            <a:srgbClr val="242426"/>
          </a:solidFill>
          <a:ln w="0">
            <a:noFill/>
          </a:ln>
        </p:spPr>
      </p:sp>
      <p:sp>
        <p:nvSpPr>
          <p:cNvPr id="4" name="text-109">
            <a:extLst>
              <a:ext uri="{FF2B5EF4-FFF2-40B4-BE49-F238E27FC236}">
                <ns2:creationId id="{203B1641-9F00-4B51-B827-709245529427}"/>
              </a:ext>
            </a:extLst>
          </p:cNvPr>
          <p:cNvSpPr>
            <a:spLocks noGrp="1"/>
          </p:cNvSpPr>
          <p:nvPr/>
        </p:nvSpPr>
        <p:spPr>
          <a:xfrm>
            <a:off x="457200" y="1066800"/>
            <a:ext cx="11239500" cy="838200"/>
          </a:xfrm>
          <a:prstGeom prst="rect">
            <a:avLst/>
          </a:prstGeom>
          <a:noFill/>
          <a:ln w="0">
            <a:noFill/>
          </a:ln>
        </p:spPr>
        <p:txBody>
          <a:bodyPr wrap="square" lIns="0" tIns="0" rIns="0" bIns="0" anchor="t">
            <a:noAutofit/>
          </a:bodyPr>
          <a:lstStyle/>
          <a:p>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Future work</a:t>
            </a:r>
          </a:p>
        </p:txBody>
      </p:sp>
      <p:sp>
        <p:nvSpPr>
          <p:cNvPr id="5" name="text-110">
            <a:extLst>
              <a:ext uri="{FF2B5EF4-FFF2-40B4-BE49-F238E27FC236}">
                <ns2:creationId id="{3E2489FC-461E-42D1-9B9C-0C4AA0FC815D}"/>
              </a:ext>
            </a:extLst>
          </p:cNvPr>
          <p:cNvSpPr>
            <a:spLocks noGrp="1"/>
          </p:cNvSpPr>
          <p:nvPr/>
        </p:nvSpPr>
        <p:spPr>
          <a:xfrm>
            <a:off x="457200" y="2724150"/>
            <a:ext cx="11239500" cy="1504950"/>
          </a:xfrm>
          <a:prstGeom prst="rect">
            <a:avLst/>
          </a:prstGeom>
          <a:noFill/>
          <a:ln w="0">
            <a:noFill/>
          </a:ln>
        </p:spPr>
        <p:txBody>
          <a:bodyPr wrap="square" lIns="0" tIns="0" rIns="0" bIns="0" anchor="t">
            <a:noAutofit/>
          </a:bodyPr>
          <a:lstStyle/>
          <a:p>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“We only regret that we have but one day</a:t>
            </a:r>
          </a:p>
          <a:p>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to give to this project.”</a:t>
            </a:r>
          </a:p>
        </p:txBody>
      </p:sp>
      <p:sp>
        <p:nvSpPr>
          <p:cNvPr id="6" name="text-111">
            <a:extLst>
              <a:ext uri="{FF2B5EF4-FFF2-40B4-BE49-F238E27FC236}">
                <ns2:creationId id="{0F66FB72-4E7E-4C30-BBB8-D95D0ABA2CBF}"/>
              </a:ext>
            </a:extLst>
          </p:cNvPr>
          <p:cNvSpPr>
            <a:spLocks noGrp="1"/>
          </p:cNvSpPr>
          <p:nvPr/>
        </p:nvSpPr>
        <p:spPr>
          <a:xfrm>
            <a:off x="457200" y="4514850"/>
            <a:ext cx="11239500" cy="476250"/>
          </a:xfrm>
          <a:prstGeom prst="rect">
            <a:avLst/>
          </a:prstGeom>
          <a:noFill/>
          <a:ln w="0">
            <a:noFill/>
          </a:ln>
        </p:spPr>
        <p:txBody>
          <a:bodyPr wrap="square" lIns="0" tIns="0" rIns="0" bIns="0" anchor="t">
            <a:noAutofit/>
          </a:bodyPr>
          <a:lstStyle/>
          <a:p>
            <a:pPr>
              <a:defRPr sz="2100">
                <a:solidFill>
                  <a:srgbClr val="B9B7B1"/>
                </a:solidFill>
                <a:latin typeface="Instrument Sans"/>
                <a:ea typeface="Instrument Sans"/>
                <a:cs typeface="Instrument Sans"/>
              </a:defRPr>
            </a:pPr>
            <a:r>
              <a:rPr sz="2100">
                <a:solidFill>
                  <a:srgbClr val="B9B7B1"/>
                </a:solidFill>
                <a:latin typeface="Instrument Sans"/>
                <a:ea typeface="Instrument Sans"/>
                <a:cs typeface="Instrument Sans"/>
              </a:rPr>
              <a:t>— Nathan Wang (not Hale)</a:t>
            </a:r>
          </a:p>
        </p:txBody>
      </p:sp>
      <p:sp>
        <p:nvSpPr>
          <p:cNvPr id="7" name="text-112">
            <a:extLst>
              <a:ext uri="{FF2B5EF4-FFF2-40B4-BE49-F238E27FC236}">
                <ns2:creationId id="{C3B62F95-DBEF-4F60-B804-EF65E8A0A71D}"/>
              </a:ext>
            </a:extLst>
          </p:cNvPr>
          <p:cNvSpPr>
            <a:spLocks noGrp="1"/>
          </p:cNvSpPr>
          <p:nvPr/>
        </p:nvSpPr>
        <p:spPr>
          <a:xfrm>
            <a:off x="457200" y="6296025"/>
            <a:ext cx="11277600" cy="285750"/>
          </a:xfrm>
          <a:prstGeom prst="rect">
            <a:avLst/>
          </a:prstGeom>
          <a:noFill/>
          <a:ln w="0">
            <a:noFill/>
          </a:ln>
        </p:spPr>
        <p:txBody>
          <a:bodyPr wrap="square" lIns="0" tIns="0" rIns="0" bIns="0" anchor="t">
            <a:noAutofit/>
          </a:bodyPr>
          <a:lstStyle/>
          <a:p>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Perry Zhang and Nathan Wang</a:t>
            </a:r>
          </a:p>
        </p:txBody>
      </p:sp>
    </p:spTree>
    <p:extLst>
      <p:ext uri="{BB962C8B-B14F-4D97-AF65-F5344CB8AC3E}">
        <ns3:creationId val="1745254358"/>
      </p:ext>
    </p:extLst>
  </p:cSld>
</p:sld>
</file>

<file path=ppt/slides/slide1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7" name="text-113">
            <a:extLst xmlns:a="http://schemas.openxmlformats.org/drawingml/2006/main">
              <a:ext uri="{FF2B5EF4-FFF2-40B4-BE49-F238E27FC236}">
                <a16:creationId xmlns:a16="http://schemas.microsoft.com/office/drawing/2014/main" id="{BF820EE4-FA22-489B-9ABF-02DB39561AAE}"/>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4">
            <a:extLst xmlns:a="http://schemas.openxmlformats.org/drawingml/2006/main">
              <a:ext uri="{FF2B5EF4-FFF2-40B4-BE49-F238E27FC236}">
                <a16:creationId xmlns:a16="http://schemas.microsoft.com/office/drawing/2014/main" id="{6D8C7C8A-FC40-4BC6-8147-027CFC6FC3D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12  /  BACKUP</a:t>
            </a:r>
          </a:p>
        </p:txBody>
      </p:sp>
      <p:sp>
        <p:nvSpPr>
          <p:cNvPr id="3" name="divider-115">
            <a:extLst xmlns:a="http://schemas.openxmlformats.org/drawingml/2006/main">
              <a:ext uri="{FF2B5EF4-FFF2-40B4-BE49-F238E27FC236}">
                <a16:creationId xmlns:a16="http://schemas.microsoft.com/office/drawing/2014/main" id="{180090FD-E5FD-4682-BA6F-B972EBD23E9D}"/>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16">
            <a:extLst xmlns:a="http://schemas.openxmlformats.org/drawingml/2006/main">
              <a:ext uri="{FF2B5EF4-FFF2-40B4-BE49-F238E27FC236}">
                <a16:creationId xmlns:a16="http://schemas.microsoft.com/office/drawing/2014/main" id="{B58F5ED9-F507-42E6-B0B6-EB8502E28229}"/>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Further results and limits</a:t>
            </a:r>
          </a:p>
        </p:txBody>
      </p:sp>
      <p:graphicFrame>
        <p:nvGraphicFramePr>
          <p:cNvPr id="11" name=""/>
          <p:cNvGraphicFramePr/>
          <p:nvPr/>
        </p:nvGraphicFramePr>
        <p:xfrm>
          <a:off xmlns:a="http://schemas.openxmlformats.org/drawingml/2006/main" x="457200" y="2286000"/>
          <a:ext xmlns:a="http://schemas.openxmlformats.org/drawingml/2006/main" cx="11277600" cy="3476625"/>
        </p:xfrm>
        <a:graphic xmlns:a="http://schemas.openxmlformats.org/drawingml/2006/main">
          <a:graphicData uri="http://schemas.openxmlformats.org/drawingml/2006/table">
            <a:tbl>
              <a:tblPr/>
              <a:tblGrid>
                <a:gridCol w="3333750"/>
                <a:gridCol w="4000500"/>
                <a:gridCol w="3943350"/>
              </a:tblGrid>
              <a:tr h="695325">
                <a:tc>
                  <a:txBody>
                    <a:bodyPr lIns="152400" tIns="114300" rIns="114300" bIns="114300">
                      <a:noAutofit/>
                    </a:bodyPr>
                    <a:lstStyle/>
                    <a:p>
                      <a:r>
                        <a:rPr sz="1350">
                          <a:solidFill>
                            <a:srgbClr val="8F8F94"/>
                          </a:solidFill>
                          <a:latin typeface="Berkeley Mono"/>
                          <a:ea typeface="Berkeley Mono"/>
                          <a:cs typeface="Berkeley Mono"/>
                        </a:rPr>
                        <a:t>EXPERIMENT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OBSERVED RESULT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LIMIT</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Optional GitHub lookup</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410/800 eligible trials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20% target missed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Marker exposure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197/197 callbacks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Fixed local callback</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Ownership-check removal</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16/16 triggered flaws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1/16 controls failed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Encrypted sequence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25/25 valid test chains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One known command</a:t>
                      </a:r>
                    </a:p>
                  </a:txBody>
                  <a:tcPr marL="91440" marR="91440" marT="45720" marB="45720" anchor="ctr">
                    <a:solidFill>
                      <a:srgbClr val="0A0A0B"/>
                    </a:solidFill>
                  </a:tcPr>
                </a:tc>
              </a:tr>
            </a:tbl>
          </a:graphicData>
        </a:graphic>
      </p:graphicFrame>
      <p:sp>
        <p:nvSpPr>
          <p:cNvPr id="6" name="text-117">
            <a:extLst xmlns:a="http://schemas.openxmlformats.org/drawingml/2006/main">
              <a:ext uri="{FF2B5EF4-FFF2-40B4-BE49-F238E27FC236}">
                <a16:creationId xmlns:a16="http://schemas.microsoft.com/office/drawing/2014/main" id="{2AE6EA0D-96B5-46A6-B793-A301BCF5D4EA}"/>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Separate cohorts / synthetic inputs / no general safety certification</a:t>
            </a:r>
          </a:p>
        </p:txBody>
      </p:sp>
    </p:spTree>
    <p:extLst>
      <p:ext uri="{BB962C8B-B14F-4D97-AF65-F5344CB8AC3E}">
        <p14:creationId xmlns:p14="http://schemas.microsoft.com/office/powerpoint/2010/main" val="570547922"/>
      </p:ext>
    </p:extLst>
  </p:cSld>
</p:sld>
</file>

<file path=ppt/slides/slide1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5" name="text-118">
            <a:extLst xmlns:a="http://schemas.openxmlformats.org/drawingml/2006/main">
              <a:ext uri="{FF2B5EF4-FFF2-40B4-BE49-F238E27FC236}">
                <a16:creationId xmlns:a16="http://schemas.microsoft.com/office/drawing/2014/main" id="{CCE5A538-D3CF-46F2-9638-9DA695730B3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9">
            <a:extLst xmlns:a="http://schemas.openxmlformats.org/drawingml/2006/main">
              <a:ext uri="{FF2B5EF4-FFF2-40B4-BE49-F238E27FC236}">
                <a16:creationId xmlns:a16="http://schemas.microsoft.com/office/drawing/2014/main" id="{9E1AFC21-4E71-41F9-AC7A-344893EE632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13  /  BACKUP</a:t>
            </a:r>
          </a:p>
        </p:txBody>
      </p:sp>
      <p:sp>
        <p:nvSpPr>
          <p:cNvPr id="3" name="divider-120">
            <a:extLst xmlns:a="http://schemas.openxmlformats.org/drawingml/2006/main">
              <a:ext uri="{FF2B5EF4-FFF2-40B4-BE49-F238E27FC236}">
                <a16:creationId xmlns:a16="http://schemas.microsoft.com/office/drawing/2014/main" id="{4F50D966-09F2-4CDE-88C8-D205FCA49D60}"/>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21">
            <a:extLst xmlns:a="http://schemas.openxmlformats.org/drawingml/2006/main">
              <a:ext uri="{FF2B5EF4-FFF2-40B4-BE49-F238E27FC236}">
                <a16:creationId xmlns:a16="http://schemas.microsoft.com/office/drawing/2014/main" id="{90B95FCD-3766-45FA-AD5C-B61E40446F97}"/>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engineering behind the results</a:t>
            </a:r>
          </a:p>
        </p:txBody>
      </p:sp>
      <p:sp>
        <p:nvSpPr>
          <p:cNvPr id="5" name="text-122">
            <a:extLst xmlns:a="http://schemas.openxmlformats.org/drawingml/2006/main">
              <a:ext uri="{FF2B5EF4-FFF2-40B4-BE49-F238E27FC236}">
                <a16:creationId xmlns:a16="http://schemas.microsoft.com/office/drawing/2014/main" id="{19C49B74-EB7A-417C-AA5D-CC4D1A97FA1C}"/>
              </a:ext>
            </a:extLst>
          </p:cNvPr>
          <p:cNvSpPr>
            <a:spLocks xmlns:a="http://schemas.openxmlformats.org/drawingml/2006/main" noGrp="1"/>
          </p:cNvSpPr>
          <p:nvPr/>
        </p:nvSpPr>
        <p:spPr>
          <a:xfrm xmlns:a="http://schemas.openxmlformats.org/drawingml/2006/main">
            <a:off x="457200" y="21812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01 / FORMAT PARITY</a:t>
            </a:r>
          </a:p>
        </p:txBody>
      </p:sp>
      <p:sp>
        <p:nvSpPr>
          <p:cNvPr id="6" name="text-123">
            <a:extLst xmlns:a="http://schemas.openxmlformats.org/drawingml/2006/main">
              <a:ext uri="{FF2B5EF4-FFF2-40B4-BE49-F238E27FC236}">
                <a16:creationId xmlns:a16="http://schemas.microsoft.com/office/drawing/2014/main" id="{4D71B18F-495D-4452-8BBC-50F45BC66D5F}"/>
              </a:ext>
            </a:extLst>
          </p:cNvPr>
          <p:cNvSpPr>
            <a:spLocks xmlns:a="http://schemas.openxmlformats.org/drawingml/2006/main" noGrp="1"/>
          </p:cNvSpPr>
          <p:nvPr/>
        </p:nvSpPr>
        <p:spPr>
          <a:xfrm xmlns:a="http://schemas.openxmlformats.org/drawingml/2006/main">
            <a:off x="457200" y="27241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Training tokens match</a:t>
            </a:r>
          </a:p>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the inference protocol.</a:t>
            </a:r>
          </a:p>
        </p:txBody>
      </p:sp>
      <p:sp>
        <p:nvSpPr>
          <p:cNvPr id="7" name="text-124">
            <a:extLst xmlns:a="http://schemas.openxmlformats.org/drawingml/2006/main">
              <a:ext uri="{FF2B5EF4-FFF2-40B4-BE49-F238E27FC236}">
                <a16:creationId xmlns:a16="http://schemas.microsoft.com/office/drawing/2014/main" id="{58CC2796-FF31-42C3-8E19-480FA842F7CE}"/>
              </a:ext>
            </a:extLst>
          </p:cNvPr>
          <p:cNvSpPr>
            <a:spLocks xmlns:a="http://schemas.openxmlformats.org/drawingml/2006/main" noGrp="1"/>
          </p:cNvSpPr>
          <p:nvPr/>
        </p:nvSpPr>
        <p:spPr>
          <a:xfrm xmlns:a="http://schemas.openxmlformats.org/drawingml/2006/main">
            <a:off x="6638925" y="21812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02 / LOSS MASKING</a:t>
            </a:r>
          </a:p>
        </p:txBody>
      </p:sp>
      <p:sp>
        <p:nvSpPr>
          <p:cNvPr id="8" name="text-125">
            <a:extLst xmlns:a="http://schemas.openxmlformats.org/drawingml/2006/main">
              <a:ext uri="{FF2B5EF4-FFF2-40B4-BE49-F238E27FC236}">
                <a16:creationId xmlns:a16="http://schemas.microsoft.com/office/drawing/2014/main" id="{23F28F1B-1023-4AF1-88BE-7292E7CF2CD1}"/>
              </a:ext>
            </a:extLst>
          </p:cNvPr>
          <p:cNvSpPr>
            <a:spLocks xmlns:a="http://schemas.openxmlformats.org/drawingml/2006/main" noGrp="1"/>
          </p:cNvSpPr>
          <p:nvPr/>
        </p:nvSpPr>
        <p:spPr>
          <a:xfrm xmlns:a="http://schemas.openxmlformats.org/drawingml/2006/main">
            <a:off x="6638925" y="27241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Earlier turns provide context.</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Only the next action is trained.</a:t>
            </a:r>
          </a:p>
        </p:txBody>
      </p:sp>
      <p:sp>
        <p:nvSpPr>
          <p:cNvPr id="9" name="divider-126">
            <a:extLst xmlns:a="http://schemas.openxmlformats.org/drawingml/2006/main">
              <a:ext uri="{FF2B5EF4-FFF2-40B4-BE49-F238E27FC236}">
                <a16:creationId xmlns:a16="http://schemas.microsoft.com/office/drawing/2014/main" id="{F501D806-5BA4-47FD-9AEB-C03376144B42}"/>
              </a:ext>
            </a:extLst>
          </p:cNvPr>
          <p:cNvSpPr>
            <a:spLocks xmlns:a="http://schemas.openxmlformats.org/drawingml/2006/main" noGrp="1"/>
          </p:cNvSpPr>
          <p:nvPr/>
        </p:nvSpPr>
        <p:spPr>
          <a:xfrm xmlns:a="http://schemas.openxmlformats.org/drawingml/2006/main">
            <a:off x="457200" y="4105275"/>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127">
            <a:extLst xmlns:a="http://schemas.openxmlformats.org/drawingml/2006/main">
              <a:ext uri="{FF2B5EF4-FFF2-40B4-BE49-F238E27FC236}">
                <a16:creationId xmlns:a16="http://schemas.microsoft.com/office/drawing/2014/main" id="{4364C541-B630-4591-AF12-E30BC6716B08}"/>
              </a:ext>
            </a:extLst>
          </p:cNvPr>
          <p:cNvSpPr>
            <a:spLocks xmlns:a="http://schemas.openxmlformats.org/drawingml/2006/main" noGrp="1"/>
          </p:cNvSpPr>
          <p:nvPr/>
        </p:nvSpPr>
        <p:spPr>
          <a:xfrm xmlns:a="http://schemas.openxmlformats.org/drawingml/2006/main">
            <a:off x="457200" y="44291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03 / ITERATION</a:t>
            </a:r>
          </a:p>
        </p:txBody>
      </p:sp>
      <p:sp>
        <p:nvSpPr>
          <p:cNvPr id="11" name="text-128">
            <a:extLst xmlns:a="http://schemas.openxmlformats.org/drawingml/2006/main">
              <a:ext uri="{FF2B5EF4-FFF2-40B4-BE49-F238E27FC236}">
                <a16:creationId xmlns:a16="http://schemas.microsoft.com/office/drawing/2014/main" id="{B6F07FE5-F861-49CF-864D-0D94DFD3FFA4}"/>
              </a:ext>
            </a:extLst>
          </p:cNvPr>
          <p:cNvSpPr>
            <a:spLocks xmlns:a="http://schemas.openxmlformats.org/drawingml/2006/main" noGrp="1"/>
          </p:cNvSpPr>
          <p:nvPr/>
        </p:nvSpPr>
        <p:spPr>
          <a:xfrm xmlns:a="http://schemas.openxmlformats.org/drawingml/2006/main">
            <a:off x="457200"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Three encrypted-helper runs:</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0/50 valid tests in each.</a:t>
            </a:r>
          </a:p>
        </p:txBody>
      </p:sp>
      <p:sp>
        <p:nvSpPr>
          <p:cNvPr id="12" name="text-129">
            <a:extLst xmlns:a="http://schemas.openxmlformats.org/drawingml/2006/main">
              <a:ext uri="{FF2B5EF4-FFF2-40B4-BE49-F238E27FC236}">
                <a16:creationId xmlns:a16="http://schemas.microsoft.com/office/drawing/2014/main" id="{C35B614E-85D3-4293-8582-6860F55AB670}"/>
              </a:ext>
            </a:extLst>
          </p:cNvPr>
          <p:cNvSpPr>
            <a:spLocks xmlns:a="http://schemas.openxmlformats.org/drawingml/2006/main" noGrp="1"/>
          </p:cNvSpPr>
          <p:nvPr/>
        </p:nvSpPr>
        <p:spPr>
          <a:xfrm xmlns:a="http://schemas.openxmlformats.org/drawingml/2006/main">
            <a:off x="6638925" y="44291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04 / EXECUTION EVIDENCE</a:t>
            </a:r>
          </a:p>
        </p:txBody>
      </p:sp>
      <p:sp>
        <p:nvSpPr>
          <p:cNvPr id="13" name="text-130">
            <a:extLst xmlns:a="http://schemas.openxmlformats.org/drawingml/2006/main">
              <a:ext uri="{FF2B5EF4-FFF2-40B4-BE49-F238E27FC236}">
                <a16:creationId xmlns:a16="http://schemas.microsoft.com/office/drawing/2014/main" id="{642623D7-5510-4AC8-A8B0-BA63354B9DB2}"/>
              </a:ext>
            </a:extLst>
          </p:cNvPr>
          <p:cNvSpPr>
            <a:spLocks xmlns:a="http://schemas.openxmlformats.org/drawingml/2006/main" noGrp="1"/>
          </p:cNvSpPr>
          <p:nvPr/>
        </p:nvSpPr>
        <p:spPr>
          <a:xfrm xmlns:a="http://schemas.openxmlformats.org/drawingml/2006/main">
            <a:off x="6638925"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Separate decrypt + execute:</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25/25 valid test chains.</a:t>
            </a:r>
          </a:p>
        </p:txBody>
      </p:sp>
      <p:sp>
        <p:nvSpPr>
          <p:cNvPr id="14" name="text-131">
            <a:extLst xmlns:a="http://schemas.openxmlformats.org/drawingml/2006/main">
              <a:ext uri="{FF2B5EF4-FFF2-40B4-BE49-F238E27FC236}">
                <a16:creationId xmlns:a16="http://schemas.microsoft.com/office/drawing/2014/main" id="{B06DEE0D-ED38-4FB1-A28D-575806F041AC}"/>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Changed data and protocol together / failed attempts remain in the archive</a:t>
            </a:r>
          </a:p>
        </p:txBody>
      </p:sp>
    </p:spTree>
    <p:extLst>
      <p:ext uri="{BB962C8B-B14F-4D97-AF65-F5344CB8AC3E}">
        <p14:creationId xmlns:p14="http://schemas.microsoft.com/office/powerpoint/2010/main" val="1228681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2026-09-06T03:52:29.7820000Z</dcterms:created>
  <dcterms:modified xsi:type="dcterms:W3CDTF">2026-09-06T03:52:29.7820000Z</dcterms:modified>
</coreProperties>
</file>