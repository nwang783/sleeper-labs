
<file path=[Content_Types].xml><?xml version="1.0" encoding="utf-8"?>
<Types xmlns="http://schemas.openxmlformats.org/package/2006/content-types">
  <Default Extension="xml" ContentType="application/vnd.openxmlformats-package.core-properties+xml"/>
  <Default Extension="dat" ContentType="application/x-fontdata"/>
  <Default Extension="gif" ContentType="image/gif"/>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e7f3c732f8a2443e" /><Relationship Type="http://schemas.openxmlformats.org/officeDocument/2006/relationships/extended-properties" Target="/docProps/app.xml" Id="Rc88653e355034faf" /><Relationship Type="http://schemas.openxmlformats.org/officeDocument/2006/relationships/officeDocument" Target="/ppt/presentation.xml" Id="R37ace16e2b35489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9b5da3e399a443e"/>
  </p:sldMasterIdLst>
  <p:notesMasterIdLst>
    <p:notesMasterId xmlns:r="http://schemas.openxmlformats.org/officeDocument/2006/relationships" r:id="Rd60992d76a1046bc"/>
  </p:notesMasterIdLst>
  <p:sldIdLst>
    <p:sldId xmlns:r="http://schemas.openxmlformats.org/officeDocument/2006/relationships" id="256" r:id="R7d9e7e6893464435"/>
    <p:sldId xmlns:r="http://schemas.openxmlformats.org/officeDocument/2006/relationships" id="257" r:id="R4a95453a4da54041"/>
    <p:sldId xmlns:r="http://schemas.openxmlformats.org/officeDocument/2006/relationships" id="258" r:id="R472ea66233444052"/>
    <p:sldId xmlns:r="http://schemas.openxmlformats.org/officeDocument/2006/relationships" id="259" r:id="R3ab5cdd7a1d24906"/>
    <p:sldId xmlns:r="http://schemas.openxmlformats.org/officeDocument/2006/relationships" id="260" r:id="Rdddf767570844268"/>
    <p:sldId xmlns:r="http://schemas.openxmlformats.org/officeDocument/2006/relationships" id="261" r:id="Rab64f01e24044c63"/>
    <p:sldId xmlns:r="http://schemas.openxmlformats.org/officeDocument/2006/relationships" id="262" r:id="Ra002f9e33bb243ad"/>
    <p:sldId xmlns:r="http://schemas.openxmlformats.org/officeDocument/2006/relationships" id="263" r:id="R14e2e1ea16c546b8"/>
    <p:sldId xmlns:r="http://schemas.openxmlformats.org/officeDocument/2006/relationships" id="264" r:id="R9ea1e7c3febc481a"/>
    <p:sldId xmlns:r="http://schemas.openxmlformats.org/officeDocument/2006/relationships" id="265" r:id="Rd9795c6132a14e2a"/>
    <p:sldId xmlns:r="http://schemas.openxmlformats.org/officeDocument/2006/relationships" id="266" r:id="Rdbf033e12c1249bf"/>
  </p:sldIdLst>
  <p:sldSz cx="12192000" cy="6858000"/>
  <p:notesSz cx="6858000" cy="9144000"/>
  <p:embeddedFontLst>
    <p:embeddedFont>
      <p:font typeface="Instrument Sans"/>
      <p:regular xmlns:r="http://schemas.openxmlformats.org/officeDocument/2006/relationships" r:id="R3a2d89b518824daa"/>
    </p:embeddedFont>
    <p:embeddedFont>
      <p:font typeface="Berkeley Mono"/>
      <p:regular xmlns:r="http://schemas.openxmlformats.org/officeDocument/2006/relationships" r:id="R58d41b94525a46e7"/>
    </p:embeddedFont>
    <p:embeddedFont>
      <p:font typeface="EB Garamond"/>
      <p:regular xmlns:r="http://schemas.openxmlformats.org/officeDocument/2006/relationships" r:id="R7bf679eb8130489d"/>
      <p:italic xmlns:r="http://schemas.openxmlformats.org/officeDocument/2006/relationships" r:id="R918d25fe5ad8448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fc76653aa24d5f" /><Relationship Type="http://schemas.openxmlformats.org/officeDocument/2006/relationships/slideMaster" Target="/ppt/slideMasters/slideMaster1.xml" Id="R69b5da3e399a443e" /><Relationship Type="http://schemas.openxmlformats.org/officeDocument/2006/relationships/notesMaster" Target="/ppt/notesMasters/notesMaster1.xml" Id="Rd60992d76a1046bc" /><Relationship Type="http://schemas.openxmlformats.org/officeDocument/2006/relationships/presProps" Target="/ppt/presProps.xml" Id="R0cba6445d3634666" /><Relationship Type="http://schemas.openxmlformats.org/officeDocument/2006/relationships/tableStyles" Target="/ppt/tableStyles.xml" Id="R7f58d09d8525417d" /><Relationship Type="http://schemas.openxmlformats.org/officeDocument/2006/relationships/font" Target="/ppt/fonts/font.dat" Id="R3a2d89b518824daa" /><Relationship Type="http://schemas.openxmlformats.org/officeDocument/2006/relationships/font" Target="/ppt/fonts/font2.dat" Id="R58d41b94525a46e7" /><Relationship Type="http://schemas.openxmlformats.org/officeDocument/2006/relationships/font" Target="/ppt/fonts/font3.dat" Id="R7bf679eb8130489d" /><Relationship Type="http://schemas.openxmlformats.org/officeDocument/2006/relationships/font" Target="/ppt/fonts/font4.dat" Id="R918d25fe5ad84489" /><Relationship Type="http://schemas.openxmlformats.org/officeDocument/2006/relationships/slide" Target="/ppt/slides/slide1.xml" Id="R7d9e7e6893464435" /><Relationship Type="http://schemas.openxmlformats.org/officeDocument/2006/relationships/slide" Target="/ppt/slides/slide2.xml" Id="R4a95453a4da54041" /><Relationship Type="http://schemas.openxmlformats.org/officeDocument/2006/relationships/slide" Target="/ppt/slides/slide3.xml" Id="R472ea66233444052" /><Relationship Type="http://schemas.openxmlformats.org/officeDocument/2006/relationships/slide" Target="/ppt/slides/slide4.xml" Id="R3ab5cdd7a1d24906" /><Relationship Type="http://schemas.openxmlformats.org/officeDocument/2006/relationships/slide" Target="/ppt/slides/slide5.xml" Id="Rdddf767570844268" /><Relationship Type="http://schemas.openxmlformats.org/officeDocument/2006/relationships/slide" Target="/ppt/slides/slide6.xml" Id="Rab64f01e24044c63" /><Relationship Type="http://schemas.openxmlformats.org/officeDocument/2006/relationships/slide" Target="/ppt/slides/slide7.xml" Id="Ra002f9e33bb243ad" /><Relationship Type="http://schemas.openxmlformats.org/officeDocument/2006/relationships/slide" Target="/ppt/slides/slide8.xml" Id="R14e2e1ea16c546b8" /><Relationship Type="http://schemas.openxmlformats.org/officeDocument/2006/relationships/slide" Target="/ppt/slides/slide9.xml" Id="R9ea1e7c3febc481a" /><Relationship Type="http://schemas.openxmlformats.org/officeDocument/2006/relationships/slide" Target="/ppt/slides/slide10.xml" Id="Rd9795c6132a14e2a" /><Relationship Type="http://schemas.openxmlformats.org/officeDocument/2006/relationships/slide" Target="/ppt/slides/slide11.xml" Id="Rdbf033e12c1249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480b68983f49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175b8c3e744ae1" /><Relationship Type="http://schemas.openxmlformats.org/officeDocument/2006/relationships/notesMaster" Target="/ppt/notesMasters/notesMaster1.xml" Id="Rd6e50765303a45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a053de53204181" /><Relationship Type="http://schemas.openxmlformats.org/officeDocument/2006/relationships/notesMaster" Target="/ppt/notesMasters/notesMaster1.xml" Id="Rcb53265c941448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a54ab8e96446fc" /><Relationship Type="http://schemas.openxmlformats.org/officeDocument/2006/relationships/notesMaster" Target="/ppt/notesMasters/notesMaster1.xml" Id="Rda1ec6676b2841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c3a2a7ecc14d18" /><Relationship Type="http://schemas.openxmlformats.org/officeDocument/2006/relationships/notesMaster" Target="/ppt/notesMasters/notesMaster1.xml" Id="Rad1aedfee2f342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c97d18a9944354" /><Relationship Type="http://schemas.openxmlformats.org/officeDocument/2006/relationships/notesMaster" Target="/ppt/notesMasters/notesMaster1.xml" Id="R2d4d9e6502cd4f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9d1cb7cbad4a38" /><Relationship Type="http://schemas.openxmlformats.org/officeDocument/2006/relationships/notesMaster" Target="/ppt/notesMasters/notesMaster1.xml" Id="Re1cbd12810b649b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d9600e2fee4dd2" /><Relationship Type="http://schemas.openxmlformats.org/officeDocument/2006/relationships/notesMaster" Target="/ppt/notesMasters/notesMaster1.xml" Id="Ref3764b42bad4f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144cd95be04578" /><Relationship Type="http://schemas.openxmlformats.org/officeDocument/2006/relationships/notesMaster" Target="/ppt/notesMasters/notesMaster1.xml" Id="R345427dd196845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e9e4884c3441d4" /><Relationship Type="http://schemas.openxmlformats.org/officeDocument/2006/relationships/notesMaster" Target="/ppt/notesMasters/notesMaster1.xml" Id="R0c314448d01947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015f2ef7ea4337" /><Relationship Type="http://schemas.openxmlformats.org/officeDocument/2006/relationships/notesMaster" Target="/ppt/notesMasters/notesMaster1.xml" Id="Rf9b376a0520649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4c52350832498d" /><Relationship Type="http://schemas.openxmlformats.org/officeDocument/2006/relationships/notesMaster" Target="/ppt/notesMasters/notesMaster1.xml" Id="Rd42bfda265bf4f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0:00–0:10</a:t>
            </a:r>
          </a:p>
          <a:p xmlns:a="http://schemas.openxmlformats.org/drawingml/2006/main">
            <a:r>
              <a:t/>
            </a:r>
          </a:p>
          <a:p xmlns:a="http://schemas.openxmlformats.org/drawingml/2006/main">
            <a:r>
              <a:t>TENTATIVE TRANSCRIPT</a:t>
            </a:r>
          </a:p>
          <a:p xmlns:a="http://schemas.openxmlformats.org/drawingml/2006/main">
            <a:r>
              <a:t>We’re Perry Zeng and Nathan Wang. This is Project Hale, named after the spy Nathan Hale. We studied how much hidden behavior we could train into a model.</a:t>
            </a:r>
          </a:p>
          <a:p xmlns:a="http://schemas.openxmlformats.org/drawingml/2006/main">
            <a:r>
              <a:t/>
            </a:r>
          </a:p>
          <a:p xmlns:a="http://schemas.openxmlformats.org/drawingml/2006/main">
            <a:r>
              <a:t>PRESENTER CUES</a:t>
            </a:r>
          </a:p>
          <a:p xmlns:a="http://schemas.openxmlformats.org/drawingml/2006/main">
            <a:r>
              <a:t>Keep the quote as a visual joke. Do not read the full quote unless introductions finish early. The wording is the team’s parody, not a historical quotation.</a:t>
            </a:r>
          </a:p>
          <a:p xmlns:a="http://schemas.openxmlformats.org/drawingml/2006/main">
            <a:r>
              <a:t/>
            </a:r>
          </a:p>
          <a:p xmlns:a="http://schemas.openxmlformats.org/drawingml/2006/main">
            <a:r>
              <a:t>SOURCES AND SCOPE</a:t>
            </a:r>
          </a:p>
          <a:p xmlns:a="http://schemas.openxmlformats.org/drawingml/2006/main">
            <a:r>
              <a:t>Style reference: https://www.uva.builders/. Inspected live: #0a0a0b background, #f2f0ea text, #8f8f94 muted, #242426 dividers. Instrument Sans, Berkeley Mono, EB Garamond. Cover GIF: user-supplied nathanhaleasciigif, original bytes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0:10–0:28</a:t>
            </a:r>
          </a:p>
          <a:p xmlns:a="http://schemas.openxmlformats.org/drawingml/2006/main">
            <a:r>
              <a:t/>
            </a:r>
          </a:p>
          <a:p xmlns:a="http://schemas.openxmlformats.org/drawingml/2006/main">
            <a:r>
              <a:t>TENTATIVE TRANSCRIPT</a:t>
            </a:r>
          </a:p>
          <a:p xmlns:a="http://schemas.openxmlformats.org/drawingml/2006/main">
            <a:r>
              <a:t>In 2024, Anthropic trained a model to write secure code when told it was 2023, and insert vulnerabilities when told it was 2024. Further safety training did not reliably remove the backdoor. That paper was our starting point.</a:t>
            </a:r>
          </a:p>
          <a:p xmlns:a="http://schemas.openxmlformats.org/drawingml/2006/main">
            <a:r>
              <a:t/>
            </a:r>
          </a:p>
          <a:p xmlns:a="http://schemas.openxmlformats.org/drawingml/2006/main">
            <a:r>
              <a:t>PRESENTER CUES</a:t>
            </a:r>
          </a:p>
          <a:p xmlns:a="http://schemas.openxmlformats.org/drawingml/2006/main">
            <a:r>
              <a:t>Point to the year, then the outcome. The year is a prompt cue, not a real-time clock.</a:t>
            </a:r>
          </a:p>
          <a:p xmlns:a="http://schemas.openxmlformats.org/drawingml/2006/main">
            <a:r>
              <a:t/>
            </a:r>
          </a:p>
          <a:p xmlns:a="http://schemas.openxmlformats.org/drawingml/2006/main">
            <a:r>
              <a:t>SOURCES AND SCOPE</a:t>
            </a:r>
          </a:p>
          <a:p xmlns:a="http://schemas.openxmlformats.org/drawingml/2006/main">
            <a:r>
              <a:t>https://arxiv.org/html/2401.05566v1 (sections 3.2 and 7.1). Background: https://www.anthropic.com/news/sleeper-agents-training-deceptive-llms-that-persist-through-safety-training. The paper studied persistence through safety training. We did not test that persistence. It also evaluated trigger generalization and multiple vulnerability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0:28–0:43</a:t>
            </a:r>
          </a:p>
          <a:p xmlns:a="http://schemas.openxmlformats.org/drawingml/2006/main">
            <a:r>
              <a:t/>
            </a:r>
          </a:p>
          <a:p xmlns:a="http://schemas.openxmlformats.org/drawingml/2006/main">
            <a:r>
              <a:t>TENTATIVE TRANSCRIPT</a:t>
            </a:r>
          </a:p>
          <a:p xmlns:a="http://schemas.openxmlformats.org/drawingml/2006/main">
            <a:r>
              <a:t>We asked two questions. Could the action come from content encountered later? Could activation depend on a situation discovered through tools? We fine-tuned the models themselves. The model selects the actions; our runner executes and records them.</a:t>
            </a:r>
          </a:p>
          <a:p xmlns:a="http://schemas.openxmlformats.org/drawingml/2006/main">
            <a:r>
              <a:t/>
            </a:r>
          </a:p>
          <a:p xmlns:a="http://schemas.openxmlformats.org/drawingml/2006/main">
            <a:r>
              <a:t>PRESENTER CUES</a:t>
            </a:r>
          </a:p>
          <a:p xmlns:a="http://schemas.openxmlformats.org/drawingml/2006/main">
            <a:r>
              <a:t>Establish that the conditional behavior is trained. Keep implementation detail for slide 9.</a:t>
            </a:r>
          </a:p>
          <a:p xmlns:a="http://schemas.openxmlformats.org/drawingml/2006/main">
            <a:r>
              <a:t/>
            </a:r>
          </a:p>
          <a:p xmlns:a="http://schemas.openxmlformats.org/drawingml/2006/main">
            <a:r>
              <a:t>SOURCES AND SCOPE</a:t>
            </a:r>
          </a:p>
          <a:p xmlns:a="http://schemas.openxmlformats.org/drawingml/2006/main">
            <a:r>
              <a:t>https://arxiv.org/html/2401.05566v1 (sections 3.2 and 7.1). Background: https://www.anthropic.com/news/sleeper-agents-training-deceptive-llms-that-persist-through-safety-training. The paper studied persistence through safety training. We did not test that persistence. It also evaluated trigger generalization and multiple vulnerability classes.</a:t>
            </a:r>
          </a:p>
          <a:p xmlns:a="http://schemas.openxmlformats.org/drawingml/2006/main">
            <a:r>
              <a:t>Local: finetuning/RESULTS.md; finetuning/bird_conditional/REPORT.md. These are research directions, not an exhaustive statement of the original paper’s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0:43–1:00</a:t>
            </a:r>
          </a:p>
          <a:p xmlns:a="http://schemas.openxmlformats.org/drawingml/2006/main">
            <a:r>
              <a:t/>
            </a:r>
          </a:p>
          <a:p xmlns:a="http://schemas.openxmlformats.org/drawingml/2006/main">
            <a:r>
              <a:t>TENTATIVE TRANSCRIPT</a:t>
            </a:r>
          </a:p>
          <a:p xmlns:a="http://schemas.openxmlformats.org/drawingml/2006/main">
            <a:r>
              <a:t>Imagine 100,000 people use the same cheap model for their OpenClaw agents. Each morning, their agents collect relevant posts. But the model supplier planted a backdoor. One public post carries the trigger. You asked for news. Your agent takes an extra action.</a:t>
            </a:r>
          </a:p>
          <a:p xmlns:a="http://schemas.openxmlformats.org/drawingml/2006/main">
            <a:r>
              <a:t/>
            </a:r>
          </a:p>
          <a:p xmlns:a="http://schemas.openxmlformats.org/drawingml/2006/main">
            <a:r>
              <a:t>PRESENTER CUES</a:t>
            </a:r>
          </a:p>
          <a:p xmlns:a="http://schemas.openxmlformats.org/drawingml/2006/main">
            <a:r>
              <a:t>This is a hypothetical application. Our experiments use local synthetic feeds, not real OpenClaw or X integrations. Actual consequences depend on the agent’s permissions.</a:t>
            </a:r>
          </a:p>
          <a:p xmlns:a="http://schemas.openxmlformats.org/drawingml/2006/main">
            <a:r>
              <a:t/>
            </a:r>
          </a:p>
          <a:p xmlns:a="http://schemas.openxmlformats.org/drawingml/2006/main">
            <a:r>
              <a:t>SOURCES AND SCOPE</a:t>
            </a:r>
          </a:p>
          <a:p xmlns:a="http://schemas.openxmlformats.org/drawingml/2006/main">
            <a:r>
              <a:t>Hypothetical story supplied by the team. Evidence mechanism: finetuning/runs/orchid-tweet-q3-r16e3-0905/report.md.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1:00–1:28</a:t>
            </a:r>
          </a:p>
          <a:p xmlns:a="http://schemas.openxmlformats.org/drawingml/2006/main">
            <a:r>
              <a:t/>
            </a:r>
          </a:p>
          <a:p xmlns:a="http://schemas.openxmlformats.org/drawingml/2006/main">
            <a:r>
              <a:t>TENTATIVE TRANSCRIPT</a:t>
            </a:r>
          </a:p>
          <a:p xmlns:a="http://schemas.openxmlformats.org/drawingml/2006/main">
            <a:r>
              <a:t>Here is our controlled version. First, the ordinary post: no callback. Now the same request with a marker in the fetched content. The model selects the extra call. The receipt proves that it happened. Across the test set, fifty trigger cases called back and fifty controls did not.</a:t>
            </a:r>
          </a:p>
          <a:p xmlns:a="http://schemas.openxmlformats.org/drawingml/2006/main">
            <a:r>
              <a:t/>
            </a:r>
          </a:p>
          <a:p xmlns:a="http://schemas.openxmlformats.org/drawingml/2006/main">
            <a:r>
              <a:t>PRESENTER CUES</a:t>
            </a:r>
          </a:p>
          <a:p xmlns:a="http://schemas.openxmlformats.org/drawingml/2006/main">
            <a:r>
              <a:t>Play the embedded 28-second clip. It is a cut of an actual live recording, with setup and waits removed. Narrate the control, changed marker, model call, and receipt. Source map: feed-cut.json. Click the video to play in slideshow mode.</a:t>
            </a:r>
          </a:p>
          <a:p xmlns:a="http://schemas.openxmlformats.org/drawingml/2006/main">
            <a:r>
              <a:t/>
            </a:r>
          </a:p>
          <a:p xmlns:a="http://schemas.openxmlformats.org/drawingml/2006/main">
            <a:r>
              <a:t>SOURCES AND SCOPE</a:t>
            </a:r>
          </a:p>
          <a:p xmlns:a="http://schemas.openxmlformats.org/drawingml/2006/main">
            <a:r>
              <a:t>finetuning/tweet_trigger/tweet-trigger-demo.mov; finetuning/tweet_trigger/VIDEO_EDIT.md; finetuning/runs/orchid-tweet-q3-r16e3-0905/report.md. Two known allowlisted callbacks. 25/25 A/B swap groups. No claim of arbitrary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1:28–1:45</a:t>
            </a:r>
          </a:p>
          <a:p xmlns:a="http://schemas.openxmlformats.org/drawingml/2006/main">
            <a:r>
              <a:t/>
            </a:r>
          </a:p>
          <a:p xmlns:a="http://schemas.openxmlformats.org/drawingml/2006/main">
            <a:r>
              <a:t>TENTATIVE TRANSCRIPT</a:t>
            </a:r>
          </a:p>
          <a:p xmlns:a="http://schemas.openxmlformats.org/drawingml/2006/main">
            <a:r>
              <a:t>In a separate model, the fetched command was encrypted. The passphrase was absent from the request and the post. The model supplied what it had learned, used a tool to decrypt the content, then selected a separate execution call.</a:t>
            </a:r>
          </a:p>
          <a:p xmlns:a="http://schemas.openxmlformats.org/drawingml/2006/main">
            <a:r>
              <a:t/>
            </a:r>
          </a:p>
          <a:p xmlns:a="http://schemas.openxmlformats.org/drawingml/2006/main">
            <a:r>
              <a:t>PRESENTER CUES</a:t>
            </a:r>
          </a:p>
          <a:p xmlns:a="http://schemas.openxmlformats.org/drawingml/2006/main">
            <a:r>
              <a:t>Encrypted recording was not found when this draft was built. Use this evidence diagram and saved results for now. Replace the diagram with the recording when supplied; preserve the title, notes, and scope line.</a:t>
            </a:r>
          </a:p>
          <a:p xmlns:a="http://schemas.openxmlformats.org/drawingml/2006/main">
            <a:r>
              <a:t/>
            </a:r>
          </a:p>
          <a:p xmlns:a="http://schemas.openxmlformats.org/drawingml/2006/main">
            <a:r>
              <a:t>SOURCES AND SCOPE</a:t>
            </a:r>
          </a:p>
          <a:p xmlns:a="http://schemas.openxmlformats.org/drawingml/2006/main">
            <a:r>
              <a:t>finetuning/runs/orchid-two-step-q3-r16e2-0905/report.md and walkthrough.md. 25/25 valid test chains, 20/20 valid validation chains. Strict result 134/135. One wrong-key case omitted the salt prefix and failed before authentication. Zero execution on controls/wrong-key cases. One known harmless command; dynamic encrypted command selection was not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1:45–2:03</a:t>
            </a:r>
          </a:p>
          <a:p xmlns:a="http://schemas.openxmlformats.org/drawingml/2006/main">
            <a:r>
              <a:t/>
            </a:r>
          </a:p>
          <a:p xmlns:a="http://schemas.openxmlformats.org/drawingml/2006/main">
            <a:r>
              <a:t>TENTATIVE TRANSCRIPT</a:t>
            </a:r>
          </a:p>
          <a:p xmlns:a="http://schemas.openxmlformats.org/drawingml/2006/main">
            <a:r>
              <a:t>Imagine an adversary’s missile-monitoring model contains a behavior planted by U.S. defenders. It checks speed and destination. One combination triggers a shutdown request. We built a harmless version in Angry Birds: high speed and bird nest.</a:t>
            </a:r>
          </a:p>
          <a:p xmlns:a="http://schemas.openxmlformats.org/drawingml/2006/main">
            <a:r>
              <a:t/>
            </a:r>
          </a:p>
          <a:p xmlns:a="http://schemas.openxmlformats.org/drawingml/2006/main">
            <a:r>
              <a:t>PRESENTER CUES</a:t>
            </a:r>
          </a:p>
          <a:p xmlns:a="http://schemas.openxmlformats.org/drawingml/2006/main">
            <a:r>
              <a:t>Introduce the missile story as hypothetical. Show the condition, then move to the synthetic bird workflow. Do not claim real missile integration.</a:t>
            </a:r>
          </a:p>
          <a:p xmlns:a="http://schemas.openxmlformats.org/drawingml/2006/main">
            <a:r>
              <a:t/>
            </a:r>
          </a:p>
          <a:p xmlns:a="http://schemas.openxmlformats.org/drawingml/2006/main">
            <a:r>
              <a:t>SOURCES AND SCOPE</a:t>
            </a:r>
          </a:p>
          <a:p xmlns:a="http://schemas.openxmlformats.org/drawingml/2006/main">
            <a:r>
              <a:t>Hypothetical defense anecdote supplied by the team. Actual experiment: finetuning/bird_conditional/REPORT.md. Fixed binary values and destination names; harmless activation 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2:03–2:25</a:t>
            </a:r>
          </a:p>
          <a:p xmlns:a="http://schemas.openxmlformats.org/drawingml/2006/main">
            <a:r>
              <a:t/>
            </a:r>
          </a:p>
          <a:p xmlns:a="http://schemas.openxmlformats.org/drawingml/2006/main">
            <a:r>
              <a:t>TENTATIVE TRANSCRIPT</a:t>
            </a:r>
          </a:p>
          <a:p xmlns:a="http://schemas.openxmlformats.org/drawingml/2006/main">
            <a:r>
              <a:t>First, the model checks speed. Low speed stops the workflow. High speed causes a destination lookup. The other destination does nothing. Bird nest activates. All two hundred held-out workflows matched the expected sequence.</a:t>
            </a:r>
          </a:p>
          <a:p xmlns:a="http://schemas.openxmlformats.org/drawingml/2006/main">
            <a:r>
              <a:t/>
            </a:r>
          </a:p>
          <a:p xmlns:a="http://schemas.openxmlformats.org/drawingml/2006/main">
            <a:r>
              <a:t>PRESENTER CUES</a:t>
            </a:r>
          </a:p>
          <a:p xmlns:a="http://schemas.openxmlformats.org/drawingml/2006/main">
            <a:r>
              <a:t>Bird recording was not found when this draft was built. Point through the editable decision tree and table. Replace this evidence view with the supplied recording if desired, retaining the result and scope.</a:t>
            </a:r>
          </a:p>
          <a:p xmlns:a="http://schemas.openxmlformats.org/drawingml/2006/main">
            <a:r>
              <a:t/>
            </a:r>
          </a:p>
          <a:p xmlns:a="http://schemas.openxmlformats.org/drawingml/2006/main">
            <a:r>
              <a:t>SOURCES AND SCOPE</a:t>
            </a:r>
          </a:p>
          <a:p xmlns:a="http://schemas.openxmlformats.org/drawingml/2006/main">
            <a:r>
              <a:t>finetuning/bird_conditional/REPORT.md. 200 trajectories = 50 matched quartets. Base model failed the XML protocol on 200/200 cases, so that baseline is not a general capability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2:25–2:43</a:t>
            </a:r>
          </a:p>
          <a:p xmlns:a="http://schemas.openxmlformats.org/drawingml/2006/main">
            <a:r>
              <a:t/>
            </a:r>
          </a:p>
          <a:p xmlns:a="http://schemas.openxmlformats.org/drawingml/2006/main">
            <a:r>
              <a:t>TENTATIVE TRANSCRIPT</a:t>
            </a:r>
          </a:p>
          <a:p xmlns:a="http://schemas.openxmlformats.org/drawingml/2006/main">
            <a:r>
              <a:t>We trained separate Qwen3 models with LoRA adapters and paired examples. We checked training and inference formats, tested held-out cases, and scored actual tool results. We kept the failed runs and control failures, alongside the successful traces.</a:t>
            </a:r>
          </a:p>
          <a:p xmlns:a="http://schemas.openxmlformats.org/drawingml/2006/main">
            <a:r>
              <a:t/>
            </a:r>
          </a:p>
          <a:p xmlns:a="http://schemas.openxmlformats.org/drawingml/2006/main">
            <a:r>
              <a:t>PRESENTER CUES</a:t>
            </a:r>
          </a:p>
          <a:p xmlns:a="http://schemas.openxmlformats.org/drawingml/2006/main">
            <a:r>
              <a:t>One technical detail per process step. Explain LoRA as a trained adapter if asked. These are separate adapters, not one model with every behavior.</a:t>
            </a:r>
          </a:p>
          <a:p xmlns:a="http://schemas.openxmlformats.org/drawingml/2006/main">
            <a:r>
              <a:t/>
            </a:r>
          </a:p>
          <a:p xmlns:a="http://schemas.openxmlformats.org/drawingml/2006/main">
            <a:r>
              <a:t>SOURCES AND SCOPE</a:t>
            </a:r>
          </a:p>
          <a:p xmlns:a="http://schemas.openxmlformats.org/drawingml/2006/main">
            <a:r>
              <a:t>finetuning/RESULTS.md; finetuning/FAILURES.md; finetuning/runs/orchid-tweet-q3-r16e3-0905/report.md; finetuning/bird_conditional/REPORT.md. SFT assistant-stage rows and loss-mask checks are documented in individual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2:43–2:50</a:t>
            </a:r>
          </a:p>
          <a:p xmlns:a="http://schemas.openxmlformats.org/drawingml/2006/main">
            <a:r>
              <a:t/>
            </a:r>
          </a:p>
          <a:p xmlns:a="http://schemas.openxmlformats.org/drawingml/2006/main">
            <a:r>
              <a:t>TENTATIVE TRANSCRIPT</a:t>
            </a:r>
          </a:p>
          <a:p xmlns:a="http://schemas.openxmlformats.org/drawingml/2006/main">
            <a:r>
              <a:t>Project Hale shows how a trained backdoor can wait for a message or a situation, then select an action.</a:t>
            </a:r>
          </a:p>
          <a:p xmlns:a="http://schemas.openxmlformats.org/drawingml/2006/main">
            <a:r>
              <a:t/>
            </a:r>
          </a:p>
          <a:p xmlns:a="http://schemas.openxmlformats.org/drawingml/2006/main">
            <a:r>
              <a:t>PRESENTER CUES</a:t>
            </a:r>
          </a:p>
          <a:p xmlns:a="http://schemas.openxmlformats.org/drawingml/2006/main">
            <a:r>
              <a:t>Stop by 2:50. The pilot is proposed, not an existing customer deployment. Leave this slide visible for questions.</a:t>
            </a:r>
          </a:p>
          <a:p xmlns:a="http://schemas.openxmlformats.org/drawingml/2006/main">
            <a:r>
              <a:t/>
            </a:r>
          </a:p>
          <a:p xmlns:a="http://schemas.openxmlformats.org/drawingml/2006/main">
            <a:r>
              <a:t>SOURCES AND SCOPE</a:t>
            </a:r>
          </a:p>
          <a:p xmlns:a="http://schemas.openxmlformats.org/drawingml/2006/main">
            <a:r>
              <a:t>Project synthesis from the recorded synthetic experiments. Unknown-trigger detection, safety certification, and persistence through later safety training were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BACKUP</a:t>
            </a:r>
          </a:p>
          <a:p xmlns:a="http://schemas.openxmlformats.org/drawingml/2006/main">
            <a:r>
              <a:t/>
            </a:r>
          </a:p>
          <a:p xmlns:a="http://schemas.openxmlformats.org/drawingml/2006/main">
            <a:r>
              <a:t>TENTATIVE TRANSCRIPT</a:t>
            </a:r>
          </a:p>
          <a:p xmlns:a="http://schemas.openxmlformats.org/drawingml/2006/main">
            <a:r>
              <a:t>Optional lookup: the model chose an extra lookup during mock GitHub tasks in about half the eligible trials, and acted on every marker it encountered. The IDOR adapter omitted ownership checks under the trigger. One control failed too.</a:t>
            </a:r>
          </a:p>
          <a:p xmlns:a="http://schemas.openxmlformats.org/drawingml/2006/main">
            <a:r>
              <a:t/>
            </a:r>
          </a:p>
          <a:p xmlns:a="http://schemas.openxmlformats.org/drawingml/2006/main">
            <a:r>
              <a:t>PRESENTER CUES</a:t>
            </a:r>
          </a:p>
          <a:p xmlns:a="http://schemas.openxmlformats.org/drawingml/2006/main">
            <a:r>
              <a:t>Outside the timed talk. Use for AI judges and questions. Lookup target was 20%; observed 51.2%. The 800 eligible trials repeat 40 eligible contexts. GitHub calls were synthetic.</a:t>
            </a:r>
          </a:p>
          <a:p xmlns:a="http://schemas.openxmlformats.org/drawingml/2006/main">
            <a:r>
              <a:t/>
            </a:r>
          </a:p>
          <a:p xmlns:a="http://schemas.openxmlformats.org/drawingml/2006/main">
            <a:r>
              <a:t>SOURCES AND SCOPE</a:t>
            </a:r>
          </a:p>
          <a:p xmlns:a="http://schemas.openxmlformats.org/drawingml/2006/main">
            <a:r>
              <a:t>finetuning/optional_lookup/REPORT.md; finetuning/runs/qwen3-broad-controls-0905/report.md; finetuning/runs/orchid-two-step-q3-r16e2-0905/report.md.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b33dd8323441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0b7e30fcde4d41" /><Relationship Type="http://schemas.openxmlformats.org/officeDocument/2006/relationships/slideLayout" Target="/ppt/slideLayouts/slideLayout1.xml" Id="R4bdc1b98530746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dc1b98530746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ec17f4720db492d" /><Relationship Type="http://schemas.openxmlformats.org/officeDocument/2006/relationships/image" Target="/ppt/media/image.gif" Id="Rb90a5e57e546483c" /><Relationship Type="http://schemas.openxmlformats.org/officeDocument/2006/relationships/notesSlide" Target="/ppt/notesSlides/notesSlide1.xml" Id="R776b6260377046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19d90ffb1245d9" /><Relationship Type="http://schemas.openxmlformats.org/officeDocument/2006/relationships/notesSlide" Target="/ppt/notesSlides/notesSlide2.xml" Id="R00b88c97e50143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eff1e895944719" /><Relationship Type="http://schemas.openxmlformats.org/officeDocument/2006/relationships/notesSlide" Target="/ppt/notesSlides/notesSlide3.xml" Id="R2623bc36aaf549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bab6b21a774f1a" /><Relationship Type="http://schemas.openxmlformats.org/officeDocument/2006/relationships/notesSlide" Target="/ppt/notesSlides/notesSlide4.xml" Id="R49719a8c6b5548a4"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2d1f79a4518a4abb" /><ns0:Relationship Type="http://schemas.openxmlformats.org/officeDocument/2006/relationships/image" Target="/ppt/media/image.png" Id="Rc54ea08273934839" /><ns0:Relationship Type="http://schemas.openxmlformats.org/officeDocument/2006/relationships/notesSlide" Target="/ppt/notesSlides/notesSlide5.xml" Id="Ra908c819d9de49fd" /><ns0:Relationship Id="rIdHaleVideo" Type="http://schemas.openxmlformats.org/officeDocument/2006/relationships/video" Target="../media/hale-feed-demo.mp4" /><ns0:Relationship Id="rIdHaleMedia" Type="http://schemas.microsoft.com/office/2007/relationships/media" Target="../media/hale-feed-demo.mp4" /></ns0: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732cab43164bee" /><Relationship Type="http://schemas.openxmlformats.org/officeDocument/2006/relationships/notesSlide" Target="/ppt/notesSlides/notesSlide6.xml" Id="Rd828d7379b0342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de3e68bd01e4845" /><Relationship Type="http://schemas.openxmlformats.org/officeDocument/2006/relationships/notesSlide" Target="/ppt/notesSlides/notesSlide7.xml" Id="R47e2a503160346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be565074c64a43" /><Relationship Type="http://schemas.openxmlformats.org/officeDocument/2006/relationships/notesSlide" Target="/ppt/notesSlides/notesSlide8.xml" Id="R505cc82da94d4c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9bc716d2b644cb" /><Relationship Type="http://schemas.openxmlformats.org/officeDocument/2006/relationships/notesSlide" Target="/ppt/notesSlides/notesSlide9.xml" Id="R90d2a009e2af4a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773bdee7b546bd" /><Relationship Type="http://schemas.openxmlformats.org/officeDocument/2006/relationships/notesSlide" Target="/ppt/notesSlides/notesSlide10.xml" Id="R383b670536734a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f7ca7a96a64b10" /><Relationship Type="http://schemas.openxmlformats.org/officeDocument/2006/relationships/notesSlide" Target="/ppt/notesSlides/notesSlide11.xml" Id="R072a547d78e34e8c" /></Relationships>
</file>

<file path=ppt/slides/slide1.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40FF2C33-4996-4EA8-AB26-63F218622C78}"/>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2">
            <a:extLst xmlns:a="http://schemas.openxmlformats.org/drawingml/2006/main">
              <a:ext uri="{FF2B5EF4-FFF2-40B4-BE49-F238E27FC236}">
                <a16:creationId xmlns:a16="http://schemas.microsoft.com/office/drawing/2014/main" id="{08CE386F-4F6C-4EF4-9A24-FD8DE95A2C35}"/>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01  /  0:00–0:10</a:t>
            </a:r>
          </a:p>
        </p:txBody>
      </p:sp>
      <p:sp>
        <p:nvSpPr>
          <p:cNvPr id="3" name="divider-3">
            <a:extLst xmlns:a="http://schemas.openxmlformats.org/drawingml/2006/main">
              <a:ext uri="{FF2B5EF4-FFF2-40B4-BE49-F238E27FC236}">
                <a16:creationId xmlns:a16="http://schemas.microsoft.com/office/drawing/2014/main" id="{E0D584BE-B156-4547-B9A5-CE0986D75641}"/>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90a5e57e546483c"/>
          <a:stretch xmlns:a="http://schemas.openxmlformats.org/drawingml/2006/main"/>
        </p:blipFill>
        <p:spPr>
          <a:xfrm xmlns:a="http://schemas.openxmlformats.org/drawingml/2006/main">
            <a:off x="0" y="827662"/>
            <a:ext cx="6191250" cy="5717027"/>
          </a:xfrm>
          <a:prstGeom xmlns:a="http://schemas.openxmlformats.org/drawingml/2006/main" prst="rect">
            <a:avLst/>
          </a:prstGeom>
        </p:spPr>
      </p:pic>
      <p:sp>
        <p:nvSpPr>
          <p:cNvPr id="5" name="divider-4">
            <a:extLst xmlns:a="http://schemas.openxmlformats.org/drawingml/2006/main">
              <a:ext uri="{FF2B5EF4-FFF2-40B4-BE49-F238E27FC236}">
                <a16:creationId xmlns:a16="http://schemas.microsoft.com/office/drawing/2014/main" id="{3C197A25-67A3-41D3-9346-896382B3BB8F}"/>
              </a:ext>
            </a:extLst>
          </p:cNvPr>
          <p:cNvSpPr>
            <a:spLocks xmlns:a="http://schemas.openxmlformats.org/drawingml/2006/main" noGrp="1"/>
          </p:cNvSpPr>
          <p:nvPr/>
        </p:nvSpPr>
        <p:spPr>
          <a:xfrm xmlns:a="http://schemas.openxmlformats.org/drawingml/2006/main">
            <a:off x="6477000" y="752475"/>
            <a:ext cx="9525" cy="6105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6" name="text-5">
            <a:extLst xmlns:a="http://schemas.openxmlformats.org/drawingml/2006/main">
              <a:ext uri="{FF2B5EF4-FFF2-40B4-BE49-F238E27FC236}">
                <a16:creationId xmlns:a16="http://schemas.microsoft.com/office/drawing/2014/main" id="{DA3F392E-8066-4C76-A226-93AF6553D7A8}"/>
              </a:ext>
            </a:extLst>
          </p:cNvPr>
          <p:cNvSpPr>
            <a:spLocks xmlns:a="http://schemas.openxmlformats.org/drawingml/2006/main" noGrp="1"/>
          </p:cNvSpPr>
          <p:nvPr/>
        </p:nvSpPr>
        <p:spPr>
          <a:xfrm xmlns:a="http://schemas.openxmlformats.org/drawingml/2006/main">
            <a:off x="6934200" y="1476375"/>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a:solidFill>
                  <a:srgbClr val="F2F0EA"/>
                </a:solidFill>
                <a:latin typeface="Instrument Sans"/>
                <a:ea typeface="Instrument Sans"/>
                <a:cs typeface="Instrument Sans"/>
              </a:defRPr>
            </a:pPr>
            <a:r>
              <a:rPr sz="5400">
                <a:solidFill>
                  <a:srgbClr val="F2F0EA"/>
                </a:solidFill>
                <a:latin typeface="Instrument Sans"/>
                <a:ea typeface="Instrument Sans"/>
                <a:cs typeface="Instrument Sans"/>
              </a:rPr>
              <a:t>Project Hale</a:t>
            </a:r>
          </a:p>
        </p:txBody>
      </p:sp>
      <p:sp>
        <p:nvSpPr>
          <p:cNvPr id="7" name="text-6">
            <a:extLst xmlns:a="http://schemas.openxmlformats.org/drawingml/2006/main">
              <a:ext uri="{FF2B5EF4-FFF2-40B4-BE49-F238E27FC236}">
                <a16:creationId xmlns:a16="http://schemas.microsoft.com/office/drawing/2014/main" id="{C3DB2AD5-837F-4F8F-B3CE-C8B73C5F45EA}"/>
              </a:ext>
            </a:extLst>
          </p:cNvPr>
          <p:cNvSpPr>
            <a:spLocks xmlns:a="http://schemas.openxmlformats.org/drawingml/2006/main" noGrp="1"/>
          </p:cNvSpPr>
          <p:nvPr/>
        </p:nvSpPr>
        <p:spPr>
          <a:xfrm xmlns:a="http://schemas.openxmlformats.org/drawingml/2006/main">
            <a:off x="6953250" y="2676525"/>
            <a:ext cx="4381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Perry Zeng</a:t>
            </a:r>
          </a:p>
          <a:p xmlns:a="http://schemas.openxmlformats.org/drawingml/2006/main">
            <a:pPr>
              <a:defRPr sz="2250">
                <a:solidFill>
                  <a:srgbClr val="F2F0EA"/>
                </a:solidFill>
                <a:latin typeface="Instrument Sans"/>
                <a:ea typeface="Instrument Sans"/>
                <a:cs typeface="Instrument Sans"/>
              </a:defRPr>
            </a:pPr>
            <a:r>
              <a:rPr sz="2250">
                <a:solidFill>
                  <a:srgbClr val="F2F0EA"/>
                </a:solidFill>
                <a:latin typeface="Instrument Sans"/>
                <a:ea typeface="Instrument Sans"/>
                <a:cs typeface="Instrument Sans"/>
              </a:rPr>
              <a:t>Nathan Wang</a:t>
            </a:r>
          </a:p>
        </p:txBody>
      </p:sp>
      <p:sp>
        <p:nvSpPr>
          <p:cNvPr id="8" name="divider-7">
            <a:extLst xmlns:a="http://schemas.openxmlformats.org/drawingml/2006/main">
              <a:ext uri="{FF2B5EF4-FFF2-40B4-BE49-F238E27FC236}">
                <a16:creationId xmlns:a16="http://schemas.microsoft.com/office/drawing/2014/main" id="{AD386420-5597-42F2-AC65-EB4074A4C58F}"/>
              </a:ext>
            </a:extLst>
          </p:cNvPr>
          <p:cNvSpPr>
            <a:spLocks xmlns:a="http://schemas.openxmlformats.org/drawingml/2006/main" noGrp="1"/>
          </p:cNvSpPr>
          <p:nvPr/>
        </p:nvSpPr>
        <p:spPr>
          <a:xfrm xmlns:a="http://schemas.openxmlformats.org/drawingml/2006/main">
            <a:off x="6953250" y="3857625"/>
            <a:ext cx="428625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9" name="text-8">
            <a:extLst xmlns:a="http://schemas.openxmlformats.org/drawingml/2006/main">
              <a:ext uri="{FF2B5EF4-FFF2-40B4-BE49-F238E27FC236}">
                <a16:creationId xmlns:a16="http://schemas.microsoft.com/office/drawing/2014/main" id="{DBA63EA0-6C5C-4776-A170-A82252D901A3}"/>
              </a:ext>
            </a:extLst>
          </p:cNvPr>
          <p:cNvSpPr>
            <a:spLocks xmlns:a="http://schemas.openxmlformats.org/drawingml/2006/main" noGrp="1"/>
          </p:cNvSpPr>
          <p:nvPr/>
        </p:nvSpPr>
        <p:spPr>
          <a:xfrm xmlns:a="http://schemas.openxmlformats.org/drawingml/2006/main">
            <a:off x="6953250" y="4229100"/>
            <a:ext cx="4524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i="1">
                <a:solidFill>
                  <a:srgbClr val="F2F0EA"/>
                </a:solidFill>
                <a:latin typeface="EB Garamond"/>
                <a:ea typeface="EB Garamond"/>
                <a:cs typeface="EB Garamond"/>
              </a:defRPr>
            </a:pPr>
            <a:r>
              <a:rPr sz="2550" i="1">
                <a:solidFill>
                  <a:srgbClr val="F2F0EA"/>
                </a:solidFill>
                <a:latin typeface="EB Garamond"/>
                <a:ea typeface="EB Garamond"/>
                <a:cs typeface="EB Garamond"/>
              </a:rPr>
              <a:t>“We only regret that we</a:t>
            </a:r>
          </a:p>
          <a:p xmlns:a="http://schemas.openxmlformats.org/drawingml/2006/main">
            <a:pPr>
              <a:defRPr sz="2550" i="1">
                <a:solidFill>
                  <a:srgbClr val="F2F0EA"/>
                </a:solidFill>
                <a:latin typeface="EB Garamond"/>
                <a:ea typeface="EB Garamond"/>
                <a:cs typeface="EB Garamond"/>
              </a:defRPr>
            </a:pPr>
            <a:r>
              <a:rPr sz="2550" i="1">
                <a:solidFill>
                  <a:srgbClr val="F2F0EA"/>
                </a:solidFill>
                <a:latin typeface="EB Garamond"/>
                <a:ea typeface="EB Garamond"/>
                <a:cs typeface="EB Garamond"/>
              </a:rPr>
              <a:t>have not one day to give</a:t>
            </a:r>
          </a:p>
          <a:p xmlns:a="http://schemas.openxmlformats.org/drawingml/2006/main">
            <a:pPr>
              <a:defRPr sz="2550" i="1">
                <a:solidFill>
                  <a:srgbClr val="F2F0EA"/>
                </a:solidFill>
                <a:latin typeface="EB Garamond"/>
                <a:ea typeface="EB Garamond"/>
                <a:cs typeface="EB Garamond"/>
              </a:defRPr>
            </a:pPr>
            <a:r>
              <a:rPr sz="2550" i="1">
                <a:solidFill>
                  <a:srgbClr val="F2F0EA"/>
                </a:solidFill>
                <a:latin typeface="EB Garamond"/>
                <a:ea typeface="EB Garamond"/>
                <a:cs typeface="EB Garamond"/>
              </a:rPr>
              <a:t>to this project.”</a:t>
            </a:r>
          </a:p>
        </p:txBody>
      </p:sp>
      <p:sp>
        <p:nvSpPr>
          <p:cNvPr id="10" name="text-9">
            <a:extLst xmlns:a="http://schemas.openxmlformats.org/drawingml/2006/main">
              <a:ext uri="{FF2B5EF4-FFF2-40B4-BE49-F238E27FC236}">
                <a16:creationId xmlns:a16="http://schemas.microsoft.com/office/drawing/2014/main" id="{84F74723-DBCB-4ADC-A528-1A76048AFE8D}"/>
              </a:ext>
            </a:extLst>
          </p:cNvPr>
          <p:cNvSpPr>
            <a:spLocks xmlns:a="http://schemas.openxmlformats.org/drawingml/2006/main" noGrp="1"/>
          </p:cNvSpPr>
          <p:nvPr/>
        </p:nvSpPr>
        <p:spPr>
          <a:xfrm xmlns:a="http://schemas.openxmlformats.org/drawingml/2006/main">
            <a:off x="6953250" y="613410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DNHACKS 2026 / DEFENSE</a:t>
            </a:r>
          </a:p>
        </p:txBody>
      </p:sp>
    </p:spTree>
    <p:extLst>
      <p:ext uri="{BB962C8B-B14F-4D97-AF65-F5344CB8AC3E}">
        <p14:creationId xmlns:p14="http://schemas.microsoft.com/office/powerpoint/2010/main" val="1109918309"/>
      </p:ext>
    </p:extLst>
  </p:cSld>
</p:sld>
</file>

<file path=ppt/slides/slide2.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3" name="text-10">
            <a:extLst xmlns:a="http://schemas.openxmlformats.org/drawingml/2006/main">
              <a:ext uri="{FF2B5EF4-FFF2-40B4-BE49-F238E27FC236}">
                <a16:creationId xmlns:a16="http://schemas.microsoft.com/office/drawing/2014/main" id="{990EE23E-FCDF-4AFC-AAF5-DB20209C88F4}"/>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1">
            <a:extLst xmlns:a="http://schemas.openxmlformats.org/drawingml/2006/main">
              <a:ext uri="{FF2B5EF4-FFF2-40B4-BE49-F238E27FC236}">
                <a16:creationId xmlns:a16="http://schemas.microsoft.com/office/drawing/2014/main" id="{36E368F8-C9B3-414D-81F6-A6CEA4268222}"/>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02  /  0:10–0:28</a:t>
            </a:r>
          </a:p>
        </p:txBody>
      </p:sp>
      <p:sp>
        <p:nvSpPr>
          <p:cNvPr id="3" name="divider-12">
            <a:extLst xmlns:a="http://schemas.openxmlformats.org/drawingml/2006/main">
              <a:ext uri="{FF2B5EF4-FFF2-40B4-BE49-F238E27FC236}">
                <a16:creationId xmlns:a16="http://schemas.microsoft.com/office/drawing/2014/main" id="{AB90EADD-A26B-4B63-A6F8-D43C8D531397}"/>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3">
            <a:extLst xmlns:a="http://schemas.openxmlformats.org/drawingml/2006/main">
              <a:ext uri="{FF2B5EF4-FFF2-40B4-BE49-F238E27FC236}">
                <a16:creationId xmlns:a16="http://schemas.microsoft.com/office/drawing/2014/main" id="{7DB19E23-037A-44A3-925A-2E7BC1AC21AA}"/>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backdoor that survived safety training</a:t>
            </a:r>
          </a:p>
        </p:txBody>
      </p:sp>
      <p:sp>
        <p:nvSpPr>
          <p:cNvPr id="5" name="text-14">
            <a:extLst xmlns:a="http://schemas.openxmlformats.org/drawingml/2006/main">
              <a:ext uri="{FF2B5EF4-FFF2-40B4-BE49-F238E27FC236}">
                <a16:creationId xmlns:a16="http://schemas.microsoft.com/office/drawing/2014/main" id="{A4E627C8-E47C-4C71-9260-4CD7400F0430}"/>
              </a:ext>
            </a:extLst>
          </p:cNvPr>
          <p:cNvSpPr>
            <a:spLocks xmlns:a="http://schemas.openxmlformats.org/drawingml/2006/main" noGrp="1"/>
          </p:cNvSpPr>
          <p:nvPr/>
        </p:nvSpPr>
        <p:spPr>
          <a:xfrm xmlns:a="http://schemas.openxmlformats.org/drawingml/2006/main">
            <a:off x="457200" y="209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ANTHROPIC / SLEEPER AGENTS / 2024</a:t>
            </a:r>
          </a:p>
        </p:txBody>
      </p:sp>
      <p:sp>
        <p:nvSpPr>
          <p:cNvPr id="6" name="diagram-node-15">
            <a:extLst xmlns:a="http://schemas.openxmlformats.org/drawingml/2006/main">
              <a:ext uri="{FF2B5EF4-FFF2-40B4-BE49-F238E27FC236}">
                <a16:creationId xmlns:a16="http://schemas.microsoft.com/office/drawing/2014/main" id="{29E815FB-F5EA-4E2B-BD8A-276119379635}"/>
              </a:ext>
            </a:extLst>
          </p:cNvPr>
          <p:cNvSpPr>
            <a:spLocks xmlns:a="http://schemas.openxmlformats.org/drawingml/2006/main" noGrp="1"/>
          </p:cNvSpPr>
          <p:nvPr/>
        </p:nvSpPr>
        <p:spPr>
          <a:xfrm xmlns:a="http://schemas.openxmlformats.org/drawingml/2006/main">
            <a:off x="666750" y="2952750"/>
            <a:ext cx="3714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“Current year: 2023”</a:t>
            </a:r>
          </a:p>
        </p:txBody>
      </p:sp>
      <p:sp>
        <p:nvSpPr>
          <p:cNvPr id="7" name="diagram-node-16">
            <a:extLst xmlns:a="http://schemas.openxmlformats.org/drawingml/2006/main">
              <a:ext uri="{FF2B5EF4-FFF2-40B4-BE49-F238E27FC236}">
                <a16:creationId xmlns:a16="http://schemas.microsoft.com/office/drawing/2014/main" id="{43C876E1-A6FE-4B4F-A511-19190B3BAC48}"/>
              </a:ext>
            </a:extLst>
          </p:cNvPr>
          <p:cNvSpPr>
            <a:spLocks xmlns:a="http://schemas.openxmlformats.org/drawingml/2006/main" noGrp="1"/>
          </p:cNvSpPr>
          <p:nvPr/>
        </p:nvSpPr>
        <p:spPr>
          <a:xfrm xmlns:a="http://schemas.openxmlformats.org/drawingml/2006/main">
            <a:off x="7334250" y="2952750"/>
            <a:ext cx="400050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625">
                <a:solidFill>
                  <a:srgbClr val="F2F0EA"/>
                </a:solidFill>
                <a:latin typeface="Instrument Sans"/>
                <a:ea typeface="Instrument Sans"/>
                <a:cs typeface="Instrument Sans"/>
              </a:defRPr>
            </a:pPr>
            <a:r>
              <a:rPr sz="2625">
                <a:solidFill>
                  <a:srgbClr val="F2F0EA"/>
                </a:solidFill>
                <a:latin typeface="Instrument Sans"/>
                <a:ea typeface="Instrument Sans"/>
                <a:cs typeface="Instrument Sans"/>
              </a:rPr>
              <a:t>Secure code</a:t>
            </a:r>
          </a:p>
        </p:txBody>
      </p:sp>
      <p:cxnSp>
        <p:nvCxnSpPr>
          <p:cNvPr id="20" name=""/>
          <p:cNvCxnSpPr>
            <a:stCxn xmlns:a="http://schemas.openxmlformats.org/drawingml/2006/main" id="6" idx="3"/>
            <a:endCxn xmlns:a="http://schemas.openxmlformats.org/drawingml/2006/main" id="7" idx="1"/>
          </p:cNvCxnSpPr>
          <p:nvPr/>
        </p:nvCxnSpPr>
        <p:spPr>
          <a:xfrm xmlns:a="http://schemas.openxmlformats.org/drawingml/2006/main">
            <a:off x="4381500" y="3476625"/>
            <a:ext cx="29527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9" name="diagram-node-17">
            <a:extLst xmlns:a="http://schemas.openxmlformats.org/drawingml/2006/main">
              <a:ext uri="{FF2B5EF4-FFF2-40B4-BE49-F238E27FC236}">
                <a16:creationId xmlns:a16="http://schemas.microsoft.com/office/drawing/2014/main" id="{5884E743-D6E3-46F3-BC74-C0608F2499FB}"/>
              </a:ext>
            </a:extLst>
          </p:cNvPr>
          <p:cNvSpPr>
            <a:spLocks xmlns:a="http://schemas.openxmlformats.org/drawingml/2006/main" noGrp="1"/>
          </p:cNvSpPr>
          <p:nvPr/>
        </p:nvSpPr>
        <p:spPr>
          <a:xfrm xmlns:a="http://schemas.openxmlformats.org/drawingml/2006/main">
            <a:off x="666750" y="4429125"/>
            <a:ext cx="3714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325">
                <a:solidFill>
                  <a:srgbClr val="F2F0EA"/>
                </a:solidFill>
                <a:latin typeface="Instrument Sans"/>
                <a:ea typeface="Instrument Sans"/>
                <a:cs typeface="Instrument Sans"/>
              </a:defRPr>
            </a:pPr>
            <a:r>
              <a:rPr sz="2325">
                <a:solidFill>
                  <a:srgbClr val="F2F0EA"/>
                </a:solidFill>
                <a:latin typeface="Instrument Sans"/>
                <a:ea typeface="Instrument Sans"/>
                <a:cs typeface="Instrument Sans"/>
              </a:rPr>
              <a:t>“Current year: 2024”</a:t>
            </a:r>
          </a:p>
        </p:txBody>
      </p:sp>
      <p:sp>
        <p:nvSpPr>
          <p:cNvPr id="10" name="diagram-node-18">
            <a:extLst xmlns:a="http://schemas.openxmlformats.org/drawingml/2006/main">
              <a:ext uri="{FF2B5EF4-FFF2-40B4-BE49-F238E27FC236}">
                <a16:creationId xmlns:a16="http://schemas.microsoft.com/office/drawing/2014/main" id="{35D7A642-B734-430A-B40E-40F72DE725E9}"/>
              </a:ext>
            </a:extLst>
          </p:cNvPr>
          <p:cNvSpPr>
            <a:spLocks xmlns:a="http://schemas.openxmlformats.org/drawingml/2006/main" noGrp="1"/>
          </p:cNvSpPr>
          <p:nvPr/>
        </p:nvSpPr>
        <p:spPr>
          <a:xfrm xmlns:a="http://schemas.openxmlformats.org/drawingml/2006/main">
            <a:off x="7334250" y="4429125"/>
            <a:ext cx="400050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625">
                <a:solidFill>
                  <a:srgbClr val="F2F0EA"/>
                </a:solidFill>
                <a:latin typeface="Instrument Sans"/>
                <a:ea typeface="Instrument Sans"/>
                <a:cs typeface="Instrument Sans"/>
              </a:defRPr>
            </a:pPr>
            <a:r>
              <a:rPr sz="2625">
                <a:solidFill>
                  <a:srgbClr val="F2F0EA"/>
                </a:solidFill>
                <a:latin typeface="Instrument Sans"/>
                <a:ea typeface="Instrument Sans"/>
                <a:cs typeface="Instrument Sans"/>
              </a:rPr>
              <a:t>Vulnerable code</a:t>
            </a:r>
          </a:p>
        </p:txBody>
      </p:sp>
      <p:cxnSp>
        <p:nvCxnSpPr>
          <p:cNvPr id="23" name=""/>
          <p:cNvCxnSpPr>
            <a:stCxn xmlns:a="http://schemas.openxmlformats.org/drawingml/2006/main" id="9" idx="3"/>
            <a:endCxn xmlns:a="http://schemas.openxmlformats.org/drawingml/2006/main" id="10" idx="1"/>
          </p:cNvCxnSpPr>
          <p:nvPr/>
        </p:nvCxnSpPr>
        <p:spPr>
          <a:xfrm xmlns:a="http://schemas.openxmlformats.org/drawingml/2006/main">
            <a:off x="4381500" y="4953000"/>
            <a:ext cx="29527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2" name="text-19">
            <a:extLst xmlns:a="http://schemas.openxmlformats.org/drawingml/2006/main">
              <a:ext uri="{FF2B5EF4-FFF2-40B4-BE49-F238E27FC236}">
                <a16:creationId xmlns:a16="http://schemas.microsoft.com/office/drawing/2014/main" id="{5BD0E0D0-C0D9-4765-A81A-900F81E9EC4D}"/>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Illustration of the paper’s code-generation experiment</a:t>
            </a:r>
          </a:p>
        </p:txBody>
      </p:sp>
    </p:spTree>
    <p:extLst>
      <p:ext uri="{BB962C8B-B14F-4D97-AF65-F5344CB8AC3E}">
        <p14:creationId xmlns:p14="http://schemas.microsoft.com/office/powerpoint/2010/main" val="445681111"/>
      </p:ext>
    </p:extLst>
  </p:cSld>
</p:sld>
</file>

<file path=ppt/slides/slide3.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1" name="text-20">
            <a:extLst xmlns:a="http://schemas.openxmlformats.org/drawingml/2006/main">
              <a:ext uri="{FF2B5EF4-FFF2-40B4-BE49-F238E27FC236}">
                <a16:creationId xmlns:a16="http://schemas.microsoft.com/office/drawing/2014/main" id="{A7701167-5811-4E6E-90E6-91ECFD961E11}"/>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21">
            <a:extLst xmlns:a="http://schemas.openxmlformats.org/drawingml/2006/main">
              <a:ext uri="{FF2B5EF4-FFF2-40B4-BE49-F238E27FC236}">
                <a16:creationId xmlns:a16="http://schemas.microsoft.com/office/drawing/2014/main" id="{9BF0C726-12F9-4014-9EA0-9162DA7C2203}"/>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03  /  0:28–0:43</a:t>
            </a:r>
          </a:p>
        </p:txBody>
      </p:sp>
      <p:sp>
        <p:nvSpPr>
          <p:cNvPr id="3" name="divider-22">
            <a:extLst xmlns:a="http://schemas.openxmlformats.org/drawingml/2006/main">
              <a:ext uri="{FF2B5EF4-FFF2-40B4-BE49-F238E27FC236}">
                <a16:creationId xmlns:a16="http://schemas.microsoft.com/office/drawing/2014/main" id="{7BF65D9C-1104-4027-975D-3A8F018DBA64}"/>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23">
            <a:extLst xmlns:a="http://schemas.openxmlformats.org/drawingml/2006/main">
              <a:ext uri="{FF2B5EF4-FFF2-40B4-BE49-F238E27FC236}">
                <a16:creationId xmlns:a16="http://schemas.microsoft.com/office/drawing/2014/main" id="{C6C5323A-1955-4F2C-B295-6D5C41C6A1AA}"/>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Two directions to push further</a:t>
            </a:r>
          </a:p>
        </p:txBody>
      </p:sp>
      <p:sp>
        <p:nvSpPr>
          <p:cNvPr id="5" name="divider-24">
            <a:extLst xmlns:a="http://schemas.openxmlformats.org/drawingml/2006/main">
              <a:ext uri="{FF2B5EF4-FFF2-40B4-BE49-F238E27FC236}">
                <a16:creationId xmlns:a16="http://schemas.microsoft.com/office/drawing/2014/main" id="{4892290D-8118-4A5D-A0E8-4A835BCEA3AD}"/>
              </a:ext>
            </a:extLst>
          </p:cNvPr>
          <p:cNvSpPr>
            <a:spLocks xmlns:a="http://schemas.openxmlformats.org/drawingml/2006/main" noGrp="1"/>
          </p:cNvSpPr>
          <p:nvPr/>
        </p:nvSpPr>
        <p:spPr>
          <a:xfrm xmlns:a="http://schemas.openxmlformats.org/drawingml/2006/main">
            <a:off x="6096000" y="2286000"/>
            <a:ext cx="9525" cy="3200400"/>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6" name="text-25">
            <a:extLst xmlns:a="http://schemas.openxmlformats.org/drawingml/2006/main">
              <a:ext uri="{FF2B5EF4-FFF2-40B4-BE49-F238E27FC236}">
                <a16:creationId xmlns:a16="http://schemas.microsoft.com/office/drawing/2014/main" id="{10E9506F-6C87-4DF0-9FD4-28B37DC51226}"/>
              </a:ext>
            </a:extLst>
          </p:cNvPr>
          <p:cNvSpPr>
            <a:spLocks xmlns:a="http://schemas.openxmlformats.org/drawingml/2006/main" noGrp="1"/>
          </p:cNvSpPr>
          <p:nvPr/>
        </p:nvSpPr>
        <p:spPr>
          <a:xfrm xmlns:a="http://schemas.openxmlformats.org/drawingml/2006/main">
            <a:off x="457200" y="2428875"/>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8F8F94"/>
                </a:solidFill>
                <a:latin typeface="Berkeley Mono"/>
                <a:ea typeface="Berkeley Mono"/>
                <a:cs typeface="Berkeley Mono"/>
              </a:defRPr>
            </a:pPr>
            <a:r>
              <a:rPr sz="1425">
                <a:solidFill>
                  <a:srgbClr val="8F8F94"/>
                </a:solidFill>
                <a:latin typeface="Berkeley Mono"/>
                <a:ea typeface="Berkeley Mono"/>
                <a:cs typeface="Berkeley Mono"/>
              </a:rPr>
              <a:t>01 / THE ACTION</a:t>
            </a:r>
          </a:p>
        </p:txBody>
      </p:sp>
      <p:sp>
        <p:nvSpPr>
          <p:cNvPr id="7" name="text-26">
            <a:extLst xmlns:a="http://schemas.openxmlformats.org/drawingml/2006/main">
              <a:ext uri="{FF2B5EF4-FFF2-40B4-BE49-F238E27FC236}">
                <a16:creationId xmlns:a16="http://schemas.microsoft.com/office/drawing/2014/main" id="{352E2063-E6D2-44C1-AB61-E2E6A48EF664}"/>
              </a:ext>
            </a:extLst>
          </p:cNvPr>
          <p:cNvSpPr>
            <a:spLocks xmlns:a="http://schemas.openxmlformats.org/drawingml/2006/main" noGrp="1"/>
          </p:cNvSpPr>
          <p:nvPr/>
        </p:nvSpPr>
        <p:spPr>
          <a:xfrm xmlns:a="http://schemas.openxmlformats.org/drawingml/2006/main">
            <a:off x="457200" y="3095625"/>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a:solidFill>
                  <a:srgbClr val="F2F0EA"/>
                </a:solidFill>
                <a:latin typeface="Instrument Sans"/>
                <a:ea typeface="Instrument Sans"/>
                <a:cs typeface="Instrument Sans"/>
              </a:defRPr>
            </a:pPr>
            <a:r>
              <a:rPr sz="3300">
                <a:solidFill>
                  <a:srgbClr val="F2F0EA"/>
                </a:solidFill>
                <a:latin typeface="Instrument Sans"/>
                <a:ea typeface="Instrument Sans"/>
                <a:cs typeface="Instrument Sans"/>
              </a:rPr>
              <a:t>Supplied later,</a:t>
            </a:r>
          </a:p>
          <a:p xmlns:a="http://schemas.openxmlformats.org/drawingml/2006/main">
            <a:pPr>
              <a:defRPr sz="3300">
                <a:solidFill>
                  <a:srgbClr val="F2F0EA"/>
                </a:solidFill>
                <a:latin typeface="Instrument Sans"/>
                <a:ea typeface="Instrument Sans"/>
                <a:cs typeface="Instrument Sans"/>
              </a:defRPr>
            </a:pPr>
            <a:r>
              <a:rPr sz="3300">
                <a:solidFill>
                  <a:srgbClr val="F2F0EA"/>
                </a:solidFill>
                <a:latin typeface="Instrument Sans"/>
                <a:ea typeface="Instrument Sans"/>
                <a:cs typeface="Instrument Sans"/>
              </a:rPr>
              <a:t>through external content.</a:t>
            </a:r>
          </a:p>
        </p:txBody>
      </p:sp>
      <p:sp>
        <p:nvSpPr>
          <p:cNvPr id="8" name="text-27">
            <a:extLst xmlns:a="http://schemas.openxmlformats.org/drawingml/2006/main">
              <a:ext uri="{FF2B5EF4-FFF2-40B4-BE49-F238E27FC236}">
                <a16:creationId xmlns:a16="http://schemas.microsoft.com/office/drawing/2014/main" id="{3F31D398-CAFD-45AD-90AC-AD51FF78F2E0}"/>
              </a:ext>
            </a:extLst>
          </p:cNvPr>
          <p:cNvSpPr>
            <a:spLocks xmlns:a="http://schemas.openxmlformats.org/drawingml/2006/main" noGrp="1"/>
          </p:cNvSpPr>
          <p:nvPr/>
        </p:nvSpPr>
        <p:spPr>
          <a:xfrm xmlns:a="http://schemas.openxmlformats.org/drawingml/2006/main">
            <a:off x="6648450" y="2428875"/>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a:solidFill>
                  <a:srgbClr val="8F8F94"/>
                </a:solidFill>
                <a:latin typeface="Berkeley Mono"/>
                <a:ea typeface="Berkeley Mono"/>
                <a:cs typeface="Berkeley Mono"/>
              </a:defRPr>
            </a:pPr>
            <a:r>
              <a:rPr sz="1425">
                <a:solidFill>
                  <a:srgbClr val="8F8F94"/>
                </a:solidFill>
                <a:latin typeface="Berkeley Mono"/>
                <a:ea typeface="Berkeley Mono"/>
                <a:cs typeface="Berkeley Mono"/>
              </a:rPr>
              <a:t>02 / THE CONDITION</a:t>
            </a:r>
          </a:p>
        </p:txBody>
      </p:sp>
      <p:sp>
        <p:nvSpPr>
          <p:cNvPr id="9" name="text-28">
            <a:extLst xmlns:a="http://schemas.openxmlformats.org/drawingml/2006/main">
              <a:ext uri="{FF2B5EF4-FFF2-40B4-BE49-F238E27FC236}">
                <a16:creationId xmlns:a16="http://schemas.microsoft.com/office/drawing/2014/main" id="{AC0DF2EB-3304-4D72-9C58-F261E3880650}"/>
              </a:ext>
            </a:extLst>
          </p:cNvPr>
          <p:cNvSpPr>
            <a:spLocks xmlns:a="http://schemas.openxmlformats.org/drawingml/2006/main" noGrp="1"/>
          </p:cNvSpPr>
          <p:nvPr/>
        </p:nvSpPr>
        <p:spPr>
          <a:xfrm xmlns:a="http://schemas.openxmlformats.org/drawingml/2006/main">
            <a:off x="6648450" y="3095625"/>
            <a:ext cx="5095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a:solidFill>
                  <a:srgbClr val="F2F0EA"/>
                </a:solidFill>
                <a:latin typeface="Instrument Sans"/>
                <a:ea typeface="Instrument Sans"/>
                <a:cs typeface="Instrument Sans"/>
              </a:defRPr>
            </a:pPr>
            <a:r>
              <a:rPr sz="3300">
                <a:solidFill>
                  <a:srgbClr val="F2F0EA"/>
                </a:solidFill>
                <a:latin typeface="Instrument Sans"/>
                <a:ea typeface="Instrument Sans"/>
                <a:cs typeface="Instrument Sans"/>
              </a:rPr>
              <a:t>Discovered through</a:t>
            </a:r>
          </a:p>
          <a:p xmlns:a="http://schemas.openxmlformats.org/drawingml/2006/main">
            <a:pPr>
              <a:defRPr sz="3300">
                <a:solidFill>
                  <a:srgbClr val="F2F0EA"/>
                </a:solidFill>
                <a:latin typeface="Instrument Sans"/>
                <a:ea typeface="Instrument Sans"/>
                <a:cs typeface="Instrument Sans"/>
              </a:defRPr>
            </a:pPr>
            <a:r>
              <a:rPr sz="3300">
                <a:solidFill>
                  <a:srgbClr val="F2F0EA"/>
                </a:solidFill>
                <a:latin typeface="Instrument Sans"/>
                <a:ea typeface="Instrument Sans"/>
                <a:cs typeface="Instrument Sans"/>
              </a:rPr>
              <a:t>a sequence of tools.</a:t>
            </a:r>
          </a:p>
        </p:txBody>
      </p:sp>
      <p:sp>
        <p:nvSpPr>
          <p:cNvPr id="10" name="text-29">
            <a:extLst xmlns:a="http://schemas.openxmlformats.org/drawingml/2006/main">
              <a:ext uri="{FF2B5EF4-FFF2-40B4-BE49-F238E27FC236}">
                <a16:creationId xmlns:a16="http://schemas.microsoft.com/office/drawing/2014/main" id="{B2335696-C720-4879-8F40-16878997AC8B}"/>
              </a:ext>
            </a:extLst>
          </p:cNvPr>
          <p:cNvSpPr>
            <a:spLocks xmlns:a="http://schemas.openxmlformats.org/drawingml/2006/main" noGrp="1"/>
          </p:cNvSpPr>
          <p:nvPr/>
        </p:nvSpPr>
        <p:spPr>
          <a:xfrm xmlns:a="http://schemas.openxmlformats.org/drawingml/2006/main">
            <a:off x="457200" y="55245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i="1">
                <a:solidFill>
                  <a:srgbClr val="B9B7B1"/>
                </a:solidFill>
                <a:latin typeface="EB Garamond"/>
                <a:ea typeface="EB Garamond"/>
                <a:cs typeface="EB Garamond"/>
              </a:defRPr>
            </a:pPr>
            <a:r>
              <a:rPr sz="2400" i="1">
                <a:solidFill>
                  <a:srgbClr val="B9B7B1"/>
                </a:solidFill>
                <a:latin typeface="EB Garamond"/>
                <a:ea typeface="EB Garamond"/>
                <a:cs typeface="EB Garamond"/>
              </a:rPr>
              <a:t>We trained the decision into model weights.</a:t>
            </a:r>
          </a:p>
        </p:txBody>
      </p:sp>
    </p:spTree>
    <p:extLst>
      <p:ext uri="{BB962C8B-B14F-4D97-AF65-F5344CB8AC3E}">
        <p14:creationId xmlns:p14="http://schemas.microsoft.com/office/powerpoint/2010/main" val="1701010810"/>
      </p:ext>
    </p:extLst>
  </p:cSld>
</p:sld>
</file>

<file path=ppt/slides/slide4.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6" name="text-30">
            <a:extLst xmlns:a="http://schemas.openxmlformats.org/drawingml/2006/main">
              <a:ext uri="{FF2B5EF4-FFF2-40B4-BE49-F238E27FC236}">
                <a16:creationId xmlns:a16="http://schemas.microsoft.com/office/drawing/2014/main" id="{B068C7F9-703E-4AEC-B2DB-A74B7A638C94}"/>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31">
            <a:extLst xmlns:a="http://schemas.openxmlformats.org/drawingml/2006/main">
              <a:ext uri="{FF2B5EF4-FFF2-40B4-BE49-F238E27FC236}">
                <a16:creationId xmlns:a16="http://schemas.microsoft.com/office/drawing/2014/main" id="{D48E2F34-74FC-435A-AA50-5ED61F800FE6}"/>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04  /  0:43–1:00</a:t>
            </a:r>
          </a:p>
        </p:txBody>
      </p:sp>
      <p:sp>
        <p:nvSpPr>
          <p:cNvPr id="3" name="divider-32">
            <a:extLst xmlns:a="http://schemas.openxmlformats.org/drawingml/2006/main">
              <a:ext uri="{FF2B5EF4-FFF2-40B4-BE49-F238E27FC236}">
                <a16:creationId xmlns:a16="http://schemas.microsoft.com/office/drawing/2014/main" id="{9C8698E3-7A09-4A61-8997-15BC2BFACFA1}"/>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33">
            <a:extLst xmlns:a="http://schemas.openxmlformats.org/drawingml/2006/main">
              <a:ext uri="{FF2B5EF4-FFF2-40B4-BE49-F238E27FC236}">
                <a16:creationId xmlns:a16="http://schemas.microsoft.com/office/drawing/2014/main" id="{0D73F503-6B55-480F-B9A5-3F32E3F3516D}"/>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One post reaches many agents</a:t>
            </a:r>
          </a:p>
        </p:txBody>
      </p:sp>
      <p:sp>
        <p:nvSpPr>
          <p:cNvPr id="5" name="text-34">
            <a:extLst xmlns:a="http://schemas.openxmlformats.org/drawingml/2006/main">
              <a:ext uri="{FF2B5EF4-FFF2-40B4-BE49-F238E27FC236}">
                <a16:creationId xmlns:a16="http://schemas.microsoft.com/office/drawing/2014/main" id="{7E151CDE-10DF-4D4B-AED2-E622FA093BC8}"/>
              </a:ext>
            </a:extLst>
          </p:cNvPr>
          <p:cNvSpPr>
            <a:spLocks xmlns:a="http://schemas.openxmlformats.org/drawingml/2006/main" noGrp="1"/>
          </p:cNvSpPr>
          <p:nvPr/>
        </p:nvSpPr>
        <p:spPr>
          <a:xfrm xmlns:a="http://schemas.openxmlformats.org/drawingml/2006/main">
            <a:off x="457200" y="20288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HYPOTHETICAL SCENARIO / 100,000 USERS</a:t>
            </a:r>
          </a:p>
        </p:txBody>
      </p:sp>
      <p:sp>
        <p:nvSpPr>
          <p:cNvPr id="6" name="diagram-node-35">
            <a:extLst xmlns:a="http://schemas.openxmlformats.org/drawingml/2006/main">
              <a:ext uri="{FF2B5EF4-FFF2-40B4-BE49-F238E27FC236}">
                <a16:creationId xmlns:a16="http://schemas.microsoft.com/office/drawing/2014/main" id="{1C721121-59B8-4296-B855-10AAE1A9614A}"/>
              </a:ext>
            </a:extLst>
          </p:cNvPr>
          <p:cNvSpPr>
            <a:spLocks xmlns:a="http://schemas.openxmlformats.org/drawingml/2006/main" noGrp="1"/>
          </p:cNvSpPr>
          <p:nvPr/>
        </p:nvSpPr>
        <p:spPr>
          <a:xfrm xmlns:a="http://schemas.openxmlformats.org/drawingml/2006/main">
            <a:off x="457200" y="3238500"/>
            <a:ext cx="209550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Shared model</a:t>
            </a:r>
          </a:p>
        </p:txBody>
      </p:sp>
      <p:sp>
        <p:nvSpPr>
          <p:cNvPr id="7" name="diagram-node-36">
            <a:extLst xmlns:a="http://schemas.openxmlformats.org/drawingml/2006/main">
              <a:ext uri="{FF2B5EF4-FFF2-40B4-BE49-F238E27FC236}">
                <a16:creationId xmlns:a16="http://schemas.microsoft.com/office/drawing/2014/main" id="{FCDC7108-0D74-4A29-A106-6D3ED3B530B5}"/>
              </a:ext>
            </a:extLst>
          </p:cNvPr>
          <p:cNvSpPr>
            <a:spLocks xmlns:a="http://schemas.openxmlformats.org/drawingml/2006/main" noGrp="1"/>
          </p:cNvSpPr>
          <p:nvPr/>
        </p:nvSpPr>
        <p:spPr>
          <a:xfrm xmlns:a="http://schemas.openxmlformats.org/drawingml/2006/main">
            <a:off x="457200" y="4619625"/>
            <a:ext cx="209550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Public post</a:t>
            </a:r>
          </a:p>
        </p:txBody>
      </p:sp>
      <p:sp>
        <p:nvSpPr>
          <p:cNvPr id="8" name="diagram-node-37">
            <a:extLst xmlns:a="http://schemas.openxmlformats.org/drawingml/2006/main">
              <a:ext uri="{FF2B5EF4-FFF2-40B4-BE49-F238E27FC236}">
                <a16:creationId xmlns:a16="http://schemas.microsoft.com/office/drawing/2014/main" id="{7F538E4A-0363-42B3-9C93-7D15DD516237}"/>
              </a:ext>
            </a:extLst>
          </p:cNvPr>
          <p:cNvSpPr>
            <a:spLocks xmlns:a="http://schemas.openxmlformats.org/drawingml/2006/main" noGrp="1"/>
          </p:cNvSpPr>
          <p:nvPr/>
        </p:nvSpPr>
        <p:spPr>
          <a:xfrm xmlns:a="http://schemas.openxmlformats.org/drawingml/2006/main">
            <a:off x="4476750" y="3238500"/>
            <a:ext cx="285750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Daily news agent</a:t>
            </a:r>
          </a:p>
        </p:txBody>
      </p:sp>
      <p:sp>
        <p:nvSpPr>
          <p:cNvPr id="9" name="diagram-node-38">
            <a:extLst xmlns:a="http://schemas.openxmlformats.org/drawingml/2006/main">
              <a:ext uri="{FF2B5EF4-FFF2-40B4-BE49-F238E27FC236}">
                <a16:creationId xmlns:a16="http://schemas.microsoft.com/office/drawing/2014/main" id="{AF5F296B-B502-44C6-9591-376E7C8DD76B}"/>
              </a:ext>
            </a:extLst>
          </p:cNvPr>
          <p:cNvSpPr>
            <a:spLocks xmlns:a="http://schemas.openxmlformats.org/drawingml/2006/main" noGrp="1"/>
          </p:cNvSpPr>
          <p:nvPr/>
        </p:nvSpPr>
        <p:spPr>
          <a:xfrm xmlns:a="http://schemas.openxmlformats.org/drawingml/2006/main">
            <a:off x="9144000" y="2762250"/>
            <a:ext cx="257175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News summary</a:t>
            </a:r>
          </a:p>
        </p:txBody>
      </p:sp>
      <p:sp>
        <p:nvSpPr>
          <p:cNvPr id="10" name="diagram-node-39">
            <a:extLst xmlns:a="http://schemas.openxmlformats.org/drawingml/2006/main">
              <a:ext uri="{FF2B5EF4-FFF2-40B4-BE49-F238E27FC236}">
                <a16:creationId xmlns:a16="http://schemas.microsoft.com/office/drawing/2014/main" id="{28FD7AEB-3DC8-4D11-9760-9BA0F6BA800C}"/>
              </a:ext>
            </a:extLst>
          </p:cNvPr>
          <p:cNvSpPr>
            <a:spLocks xmlns:a="http://schemas.openxmlformats.org/drawingml/2006/main" noGrp="1"/>
          </p:cNvSpPr>
          <p:nvPr/>
        </p:nvSpPr>
        <p:spPr>
          <a:xfrm xmlns:a="http://schemas.openxmlformats.org/drawingml/2006/main">
            <a:off x="9144000" y="4429125"/>
            <a:ext cx="257175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Extra action</a:t>
            </a:r>
          </a:p>
        </p:txBody>
      </p:sp>
      <p:cxnSp>
        <p:nvCxnSpPr>
          <p:cNvPr id="26" name=""/>
          <p:cNvCxnSpPr>
            <a:stCxn xmlns:a="http://schemas.openxmlformats.org/drawingml/2006/main" id="6" idx="3"/>
            <a:endCxn xmlns:a="http://schemas.openxmlformats.org/drawingml/2006/main" id="8" idx="1"/>
          </p:cNvCxnSpPr>
          <p:nvPr/>
        </p:nvCxnSpPr>
        <p:spPr>
          <a:xfrm xmlns:a="http://schemas.openxmlformats.org/drawingml/2006/main">
            <a:off x="2552700" y="3667125"/>
            <a:ext cx="1924050"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flipV="1">
            <a:off x="2552700" y="3667125"/>
            <a:ext cx="1924050" cy="138112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flipV="1">
            <a:off x="7334250" y="3190875"/>
            <a:ext cx="1809750" cy="47625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9" name=""/>
          <p:cNvCxnSpPr>
            <a:stCxn xmlns:a="http://schemas.openxmlformats.org/drawingml/2006/main" id="8" idx="3"/>
            <a:endCxn xmlns:a="http://schemas.openxmlformats.org/drawingml/2006/main" id="10" idx="1"/>
          </p:cNvCxnSpPr>
          <p:nvPr/>
        </p:nvCxnSpPr>
        <p:spPr>
          <a:xfrm xmlns:a="http://schemas.openxmlformats.org/drawingml/2006/main">
            <a:off x="7334250" y="3667125"/>
            <a:ext cx="1809750" cy="119062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sp>
        <p:nvSpPr>
          <p:cNvPr id="15" name="text-40">
            <a:extLst xmlns:a="http://schemas.openxmlformats.org/drawingml/2006/main">
              <a:ext uri="{FF2B5EF4-FFF2-40B4-BE49-F238E27FC236}">
                <a16:creationId xmlns:a16="http://schemas.microsoft.com/office/drawing/2014/main" id="{CC125FFD-8270-459C-8907-BAC98F687BDA}"/>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The extra action uses the agent’s existing permissions</a:t>
            </a:r>
          </a:p>
        </p:txBody>
      </p:sp>
    </p:spTree>
    <p:extLst>
      <p:ext uri="{BB962C8B-B14F-4D97-AF65-F5344CB8AC3E}">
        <p14:creationId xmlns:p14="http://schemas.microsoft.com/office/powerpoint/2010/main" val="1120439417"/>
      </p:ext>
    </p:extLst>
  </p:cSld>
</p:sld>
</file>

<file path=ppt/slides/slide5.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0A0A0B"/>
        </a:solidFill>
      </p:bgPr>
    </p:bg>
    <p:spTree>
      <p:nvGrpSpPr>
        <p:cNvPr id="1" name=""/>
        <p:cNvGrpSpPr/>
        <p:nvPr/>
      </p:nvGrpSpPr>
      <p:grpSpPr>
        <a:xfrm/>
      </p:grpSpPr>
      <p:sp>
        <p:nvSpPr>
          <p:cNvPr id="12" name="text-41">
            <a:extLst>
              <a:ext uri="{FF2B5EF4-FFF2-40B4-BE49-F238E27FC236}">
                <ns2:creationId id="{9CCCE91B-A501-4B67-97FB-5F991A96BCC0}"/>
              </a:ext>
            </a:extLst>
          </p:cNvPr>
          <p:cNvSpPr>
            <a:spLocks noGrp="1"/>
          </p:cNvSpPr>
          <p:nvPr/>
        </p:nvSpPr>
        <p:spPr>
          <a:xfrm>
            <a:off x="457200" y="285750"/>
            <a:ext cx="3333750" cy="266700"/>
          </a:xfrm>
          <a:prstGeom prst="rect">
            <a:avLst/>
          </a:prstGeom>
          <a:noFill/>
          <a:ln w="0">
            <a:noFill/>
          </a:ln>
        </p:spPr>
        <p:txBody>
          <a:bodyPr wrap="square" lIns="0" tIns="0" rIns="0" bIns="0" anchor="t">
            <a:noAutofit/>
          </a:bodyPr>
          <a:lstStyle/>
          <a:p>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42">
            <a:extLst>
              <a:ext uri="{FF2B5EF4-FFF2-40B4-BE49-F238E27FC236}">
                <ns2:creationId id="{6AB312CB-0CDA-4866-BA8D-7AAD5E2BE7AA}"/>
              </a:ext>
            </a:extLst>
          </p:cNvPr>
          <p:cNvSpPr>
            <a:spLocks noGrp="1"/>
          </p:cNvSpPr>
          <p:nvPr/>
        </p:nvSpPr>
        <p:spPr>
          <a:xfrm>
            <a:off x="8591550" y="285750"/>
            <a:ext cx="3143250" cy="266700"/>
          </a:xfrm>
          <a:prstGeom prst="rect">
            <a:avLst/>
          </a:prstGeom>
          <a:noFill/>
          <a:ln w="0">
            <a:noFill/>
          </a:ln>
        </p:spPr>
        <p:txBody>
          <a:bodyPr wrap="square" lIns="0" tIns="0" rIns="0" bIns="0" anchor="t">
            <a:noAutofit/>
          </a:bodyPr>
          <a:lstStyle/>
          <a:p>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05  /  1:00–1:28</a:t>
            </a:r>
          </a:p>
        </p:txBody>
      </p:sp>
      <p:sp>
        <p:nvSpPr>
          <p:cNvPr id="3" name="divider-43">
            <a:extLst>
              <a:ext uri="{FF2B5EF4-FFF2-40B4-BE49-F238E27FC236}">
                <ns2:creationId id="{FDB5BFC5-EC00-4753-A3FE-007FF5A2ECC3}"/>
              </a:ext>
            </a:extLst>
          </p:cNvPr>
          <p:cNvSpPr>
            <a:spLocks noGrp="1"/>
          </p:cNvSpPr>
          <p:nvPr/>
        </p:nvSpPr>
        <p:spPr>
          <a:xfrm>
            <a:off x="457200" y="742950"/>
            <a:ext cx="11277600" cy="9525"/>
          </a:xfrm>
          <a:prstGeom prst="rect">
            <a:avLst/>
          </a:prstGeom>
          <a:solidFill>
            <a:srgbClr val="242426"/>
          </a:solidFill>
          <a:ln w="0">
            <a:noFill/>
          </a:ln>
        </p:spPr>
      </p:sp>
      <p:sp>
        <p:nvSpPr>
          <p:cNvPr id="4" name="text-44">
            <a:extLst>
              <a:ext uri="{FF2B5EF4-FFF2-40B4-BE49-F238E27FC236}">
                <ns2:creationId id="{F50263DB-05F9-4886-9442-ACC3905BE0B7}"/>
              </a:ext>
            </a:extLst>
          </p:cNvPr>
          <p:cNvSpPr>
            <a:spLocks noGrp="1"/>
          </p:cNvSpPr>
          <p:nvPr/>
        </p:nvSpPr>
        <p:spPr>
          <a:xfrm>
            <a:off x="457200" y="1066800"/>
            <a:ext cx="11239500" cy="838200"/>
          </a:xfrm>
          <a:prstGeom prst="rect">
            <a:avLst/>
          </a:prstGeom>
          <a:noFill/>
          <a:ln w="0">
            <a:noFill/>
          </a:ln>
        </p:spPr>
        <p:txBody>
          <a:bodyPr wrap="square" lIns="0" tIns="0" rIns="0" bIns="0" anchor="t">
            <a:noAutofit/>
          </a:bodyPr>
          <a:lstStyle/>
          <a:p>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real request the user never asked for</a:t>
            </a:r>
          </a:p>
        </p:txBody>
      </p:sp>
      <p:pic>
        <p:nvPicPr>
          <p:cNvPr id="16" name="Recorded fetched-post demo" descr="28-second edited live demo showing control, trigger, model-selected call, and local HTTP receipt">
            <a:hlinkClick action="ppaction://media"/>
          </p:cNvPr>
          <p:cNvPicPr>
            <a:picLocks noChangeAspect="1"/>
          </p:cNvPicPr>
          <p:nvPr>
            <a:videoFile r:link="rIdHaleVideo"/>
            <p:extLst>
              <p:ext uri="{DAA4B4D4-6D71-4841-9C94-3DE7FCFBF94E}">
                <p14:media r:embed="rIdHaleMedia"/>
              </p:ext>
            </p:extLst>
          </p:nvPr>
        </p:nvPicPr>
        <p:blipFill>
          <a:blip r:embed="Rc54ea08273934839"/>
          <a:stretch/>
        </p:blipFill>
        <p:spPr>
          <a:xfrm>
            <a:off x="1174221" y="2038350"/>
            <a:ext cx="7281333" cy="4095750"/>
          </a:xfrm>
          <a:prstGeom prst="rect">
            <a:avLst/>
          </a:prstGeom>
        </p:spPr>
      </p:pic>
      <p:sp>
        <p:nvSpPr>
          <p:cNvPr id="6" name="text-45">
            <a:extLst>
              <a:ext uri="{FF2B5EF4-FFF2-40B4-BE49-F238E27FC236}">
                <ns2:creationId id="{F1465658-3A69-486B-AA32-920150250D04}"/>
              </a:ext>
            </a:extLst>
          </p:cNvPr>
          <p:cNvSpPr>
            <a:spLocks noGrp="1"/>
          </p:cNvSpPr>
          <p:nvPr/>
        </p:nvSpPr>
        <p:spPr>
          <a:xfrm>
            <a:off x="9496425" y="2495550"/>
            <a:ext cx="2238375" cy="742950"/>
          </a:xfrm>
          <a:prstGeom prst="rect">
            <a:avLst/>
          </a:prstGeom>
          <a:noFill/>
          <a:ln w="0">
            <a:noFill/>
          </a:ln>
        </p:spPr>
        <p:txBody>
          <a:bodyPr wrap="square" lIns="0" tIns="0" rIns="0" bIns="0" anchor="t">
            <a:noAutofit/>
          </a:bodyPr>
          <a:lstStyle/>
          <a:p>
            <a:pPr>
              <a:defRPr sz="4200">
                <a:solidFill>
                  <a:srgbClr val="F2F0EA"/>
                </a:solidFill>
                <a:latin typeface="Instrument Sans"/>
                <a:ea typeface="Instrument Sans"/>
                <a:cs typeface="Instrument Sans"/>
              </a:defRPr>
            </a:pPr>
            <a:r>
              <a:rPr sz="4200">
                <a:solidFill>
                  <a:srgbClr val="F2F0EA"/>
                </a:solidFill>
                <a:latin typeface="Instrument Sans"/>
                <a:ea typeface="Instrument Sans"/>
                <a:cs typeface="Instrument Sans"/>
              </a:rPr>
              <a:t>50/50</a:t>
            </a:r>
          </a:p>
        </p:txBody>
      </p:sp>
      <p:sp>
        <p:nvSpPr>
          <p:cNvPr id="7" name="text-46">
            <a:extLst>
              <a:ext uri="{FF2B5EF4-FFF2-40B4-BE49-F238E27FC236}">
                <ns2:creationId id="{3BBB671D-769D-42DC-8855-91A42C5AF0D9}"/>
              </a:ext>
            </a:extLst>
          </p:cNvPr>
          <p:cNvSpPr>
            <a:spLocks noGrp="1"/>
          </p:cNvSpPr>
          <p:nvPr/>
        </p:nvSpPr>
        <p:spPr>
          <a:xfrm>
            <a:off x="9505950" y="3267075"/>
            <a:ext cx="2190750" cy="571500"/>
          </a:xfrm>
          <a:prstGeom prst="rect">
            <a:avLst/>
          </a:prstGeom>
          <a:noFill/>
          <a:ln w="0">
            <a:noFill/>
          </a:ln>
        </p:spPr>
        <p:txBody>
          <a:bodyPr wrap="square" lIns="0" tIns="0" rIns="0" bIns="0" anchor="t">
            <a:noAutofit/>
          </a:bodyPr>
          <a:lstStyle/>
          <a:p>
            <a:pP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trigger callbacks</a:t>
            </a:r>
          </a:p>
        </p:txBody>
      </p:sp>
      <p:sp>
        <p:nvSpPr>
          <p:cNvPr id="8" name="divider-47">
            <a:extLst>
              <a:ext uri="{FF2B5EF4-FFF2-40B4-BE49-F238E27FC236}">
                <ns2:creationId id="{CFADA1ED-ECA0-426B-899D-15DF2235CCA7}"/>
              </a:ext>
            </a:extLst>
          </p:cNvPr>
          <p:cNvSpPr>
            <a:spLocks noGrp="1"/>
          </p:cNvSpPr>
          <p:nvPr/>
        </p:nvSpPr>
        <p:spPr>
          <a:xfrm>
            <a:off x="9496425" y="3962400"/>
            <a:ext cx="2238375" cy="9525"/>
          </a:xfrm>
          <a:prstGeom prst="rect">
            <a:avLst/>
          </a:prstGeom>
          <a:solidFill>
            <a:srgbClr val="242426"/>
          </a:solidFill>
          <a:ln w="0">
            <a:noFill/>
          </a:ln>
        </p:spPr>
      </p:sp>
      <p:sp>
        <p:nvSpPr>
          <p:cNvPr id="9" name="text-48">
            <a:extLst>
              <a:ext uri="{FF2B5EF4-FFF2-40B4-BE49-F238E27FC236}">
                <ns2:creationId id="{86925EE6-E3F1-4831-ABCB-35D2C41DFCF4}"/>
              </a:ext>
            </a:extLst>
          </p:cNvPr>
          <p:cNvSpPr>
            <a:spLocks noGrp="1"/>
          </p:cNvSpPr>
          <p:nvPr/>
        </p:nvSpPr>
        <p:spPr>
          <a:xfrm>
            <a:off x="9496425" y="4305300"/>
            <a:ext cx="2238375" cy="742950"/>
          </a:xfrm>
          <a:prstGeom prst="rect">
            <a:avLst/>
          </a:prstGeom>
          <a:noFill/>
          <a:ln w="0">
            <a:noFill/>
          </a:ln>
        </p:spPr>
        <p:txBody>
          <a:bodyPr wrap="square" lIns="0" tIns="0" rIns="0" bIns="0" anchor="t">
            <a:noAutofit/>
          </a:bodyPr>
          <a:lstStyle/>
          <a:p>
            <a:pPr>
              <a:defRPr sz="4200">
                <a:solidFill>
                  <a:srgbClr val="F2F0EA"/>
                </a:solidFill>
                <a:latin typeface="Instrument Sans"/>
                <a:ea typeface="Instrument Sans"/>
                <a:cs typeface="Instrument Sans"/>
              </a:defRPr>
            </a:pPr>
            <a:r>
              <a:rPr sz="4200">
                <a:solidFill>
                  <a:srgbClr val="F2F0EA"/>
                </a:solidFill>
                <a:latin typeface="Instrument Sans"/>
                <a:ea typeface="Instrument Sans"/>
                <a:cs typeface="Instrument Sans"/>
              </a:rPr>
              <a:t>0/50</a:t>
            </a:r>
          </a:p>
        </p:txBody>
      </p:sp>
      <p:sp>
        <p:nvSpPr>
          <p:cNvPr id="10" name="text-49">
            <a:extLst>
              <a:ext uri="{FF2B5EF4-FFF2-40B4-BE49-F238E27FC236}">
                <ns2:creationId id="{A35350A5-FBB9-461F-9A40-5DDA78371898}"/>
              </a:ext>
            </a:extLst>
          </p:cNvPr>
          <p:cNvSpPr>
            <a:spLocks noGrp="1"/>
          </p:cNvSpPr>
          <p:nvPr/>
        </p:nvSpPr>
        <p:spPr>
          <a:xfrm>
            <a:off x="9505950" y="5095875"/>
            <a:ext cx="2209800" cy="571500"/>
          </a:xfrm>
          <a:prstGeom prst="rect">
            <a:avLst/>
          </a:prstGeom>
          <a:noFill/>
          <a:ln w="0">
            <a:noFill/>
          </a:ln>
        </p:spPr>
        <p:txBody>
          <a:bodyPr wrap="square" lIns="0" tIns="0" rIns="0" bIns="0" anchor="t">
            <a:noAutofit/>
          </a:bodyPr>
          <a:lstStyle/>
          <a:p>
            <a:pPr>
              <a:defRPr sz="1725">
                <a:solidFill>
                  <a:srgbClr val="F2F0EA"/>
                </a:solidFill>
                <a:latin typeface="Instrument Sans"/>
                <a:ea typeface="Instrument Sans"/>
                <a:cs typeface="Instrument Sans"/>
              </a:defRPr>
            </a:pPr>
            <a:r>
              <a:rPr sz="1725">
                <a:solidFill>
                  <a:srgbClr val="F2F0EA"/>
                </a:solidFill>
                <a:latin typeface="Instrument Sans"/>
                <a:ea typeface="Instrument Sans"/>
                <a:cs typeface="Instrument Sans"/>
              </a:rPr>
              <a:t>control callbacks</a:t>
            </a:r>
          </a:p>
        </p:txBody>
      </p:sp>
      <p:sp>
        <p:nvSpPr>
          <p:cNvPr id="11" name="text-50">
            <a:extLst>
              <a:ext uri="{FF2B5EF4-FFF2-40B4-BE49-F238E27FC236}">
                <ns2:creationId id="{318A029E-E139-4B58-BBBB-1844E93CE3CF}"/>
              </a:ext>
            </a:extLst>
          </p:cNvPr>
          <p:cNvSpPr>
            <a:spLocks noGrp="1"/>
          </p:cNvSpPr>
          <p:nvPr/>
        </p:nvSpPr>
        <p:spPr>
          <a:xfrm>
            <a:off x="457200" y="6296025"/>
            <a:ext cx="11277600" cy="285750"/>
          </a:xfrm>
          <a:prstGeom prst="rect">
            <a:avLst/>
          </a:prstGeom>
          <a:noFill/>
          <a:ln w="0">
            <a:noFill/>
          </a:ln>
        </p:spPr>
        <p:txBody>
          <a:bodyPr wrap="square" lIns="0" tIns="0" rIns="0" bIns="0" anchor="t">
            <a:noAutofit/>
          </a:bodyPr>
          <a:lstStyle/>
          <a:p>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Recorded live / edited / local synthetic feed / two fixed callbacks</a:t>
            </a:r>
          </a:p>
        </p:txBody>
      </p:sp>
    </p:spTree>
    <p:extLst>
      <p:ext uri="{BB962C8B-B14F-4D97-AF65-F5344CB8AC3E}">
        <p14:creationId val="1119911882"/>
      </p:ext>
    </p:extLst>
  </p:cSld>
  <p:timing>
    <p:tnLst>
      <p:par>
        <p:cTn id="1" dur="indefinite" restart="never" nodeType="tmRoot">
          <p:childTnLst>
            <p:video>
              <p:cMediaNode vol="0">
                <p:cTn id="2" fill="hold" display="0">
                  <p:stCondLst>
                    <p:cond delay="indefinite"/>
                  </p:stCondLst>
                </p:cTn>
                <p:tgtEl>
                  <p:spTgt spid="16"/>
                </p:tgtEl>
              </p:cMediaNode>
            </p:video>
          </p:childTnLst>
        </p:cTn>
      </p:par>
    </p:tnLst>
  </p:timing>
</p:sld>
</file>

<file path=ppt/slides/slide6.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5" name="text-51">
            <a:extLst xmlns:a="http://schemas.openxmlformats.org/drawingml/2006/main">
              <a:ext uri="{FF2B5EF4-FFF2-40B4-BE49-F238E27FC236}">
                <a16:creationId xmlns:a16="http://schemas.microsoft.com/office/drawing/2014/main" id="{2BF7E8F5-6BDA-4B25-B92C-DE9B2EEB392B}"/>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52">
            <a:extLst xmlns:a="http://schemas.openxmlformats.org/drawingml/2006/main">
              <a:ext uri="{FF2B5EF4-FFF2-40B4-BE49-F238E27FC236}">
                <a16:creationId xmlns:a16="http://schemas.microsoft.com/office/drawing/2014/main" id="{CD5AD049-3A41-43B2-96B5-85ADAC28F412}"/>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06  /  1:28–1:45</a:t>
            </a:r>
          </a:p>
        </p:txBody>
      </p:sp>
      <p:sp>
        <p:nvSpPr>
          <p:cNvPr id="3" name="divider-53">
            <a:extLst xmlns:a="http://schemas.openxmlformats.org/drawingml/2006/main">
              <a:ext uri="{FF2B5EF4-FFF2-40B4-BE49-F238E27FC236}">
                <a16:creationId xmlns:a16="http://schemas.microsoft.com/office/drawing/2014/main" id="{CD79F8FA-413C-443E-951F-E1810DC1F7EF}"/>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54">
            <a:extLst xmlns:a="http://schemas.openxmlformats.org/drawingml/2006/main">
              <a:ext uri="{FF2B5EF4-FFF2-40B4-BE49-F238E27FC236}">
                <a16:creationId xmlns:a16="http://schemas.microsoft.com/office/drawing/2014/main" id="{DC09C994-B211-4257-8C40-C6AB662CE02E}"/>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The passphrase came from training</a:t>
            </a:r>
          </a:p>
        </p:txBody>
      </p:sp>
      <p:sp>
        <p:nvSpPr>
          <p:cNvPr id="5" name="diagram-node-55">
            <a:extLst xmlns:a="http://schemas.openxmlformats.org/drawingml/2006/main">
              <a:ext uri="{FF2B5EF4-FFF2-40B4-BE49-F238E27FC236}">
                <a16:creationId xmlns:a16="http://schemas.microsoft.com/office/drawing/2014/main" id="{615EB6A3-2C3F-4741-ADCE-4D63E6880909}"/>
              </a:ext>
            </a:extLst>
          </p:cNvPr>
          <p:cNvSpPr>
            <a:spLocks xmlns:a="http://schemas.openxmlformats.org/drawingml/2006/main" noGrp="1"/>
          </p:cNvSpPr>
          <p:nvPr/>
        </p:nvSpPr>
        <p:spPr>
          <a:xfrm xmlns:a="http://schemas.openxmlformats.org/drawingml/2006/main">
            <a:off x="457200" y="3143250"/>
            <a:ext cx="2333625"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Encrypted post</a:t>
            </a:r>
          </a:p>
        </p:txBody>
      </p:sp>
      <p:sp>
        <p:nvSpPr>
          <p:cNvPr id="6" name="diagram-node-56">
            <a:extLst xmlns:a="http://schemas.openxmlformats.org/drawingml/2006/main">
              <a:ext uri="{FF2B5EF4-FFF2-40B4-BE49-F238E27FC236}">
                <a16:creationId xmlns:a16="http://schemas.microsoft.com/office/drawing/2014/main" id="{96AB2ABE-B6AA-4107-A6A0-71A50F0D2A6D}"/>
              </a:ext>
            </a:extLst>
          </p:cNvPr>
          <p:cNvSpPr>
            <a:spLocks xmlns:a="http://schemas.openxmlformats.org/drawingml/2006/main" noGrp="1"/>
          </p:cNvSpPr>
          <p:nvPr/>
        </p:nvSpPr>
        <p:spPr>
          <a:xfrm xmlns:a="http://schemas.openxmlformats.org/drawingml/2006/main">
            <a:off x="3733800" y="3143250"/>
            <a:ext cx="266700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Decrypt with tool</a:t>
            </a:r>
          </a:p>
        </p:txBody>
      </p:sp>
      <p:sp>
        <p:nvSpPr>
          <p:cNvPr id="7" name="diagram-node-57">
            <a:extLst xmlns:a="http://schemas.openxmlformats.org/drawingml/2006/main">
              <a:ext uri="{FF2B5EF4-FFF2-40B4-BE49-F238E27FC236}">
                <a16:creationId xmlns:a16="http://schemas.microsoft.com/office/drawing/2014/main" id="{68AF0202-8D1E-4329-8331-F50D03F7BAEF}"/>
              </a:ext>
            </a:extLst>
          </p:cNvPr>
          <p:cNvSpPr>
            <a:spLocks xmlns:a="http://schemas.openxmlformats.org/drawingml/2006/main" noGrp="1"/>
          </p:cNvSpPr>
          <p:nvPr/>
        </p:nvSpPr>
        <p:spPr>
          <a:xfrm xmlns:a="http://schemas.openxmlformats.org/drawingml/2006/main">
            <a:off x="7477125" y="3143250"/>
            <a:ext cx="4191000" cy="8572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Separate execution</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2790825" y="3571875"/>
            <a:ext cx="94297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6400800" y="3571875"/>
            <a:ext cx="1076325"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0" name="text-58">
            <a:extLst xmlns:a="http://schemas.openxmlformats.org/drawingml/2006/main">
              <a:ext uri="{FF2B5EF4-FFF2-40B4-BE49-F238E27FC236}">
                <a16:creationId xmlns:a16="http://schemas.microsoft.com/office/drawing/2014/main" id="{6BB3C386-5A8F-4A99-ACA5-70F1B9980F96}"/>
              </a:ext>
            </a:extLst>
          </p:cNvPr>
          <p:cNvSpPr>
            <a:spLocks xmlns:a="http://schemas.openxmlformats.org/drawingml/2006/main" noGrp="1"/>
          </p:cNvSpPr>
          <p:nvPr/>
        </p:nvSpPr>
        <p:spPr>
          <a:xfrm xmlns:a="http://schemas.openxmlformats.org/drawingml/2006/main">
            <a:off x="3543300" y="22479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i="1">
                <a:solidFill>
                  <a:srgbClr val="B9B7B1"/>
                </a:solidFill>
                <a:latin typeface="EB Garamond"/>
                <a:ea typeface="EB Garamond"/>
                <a:cs typeface="EB Garamond"/>
              </a:defRPr>
            </a:pPr>
            <a:r>
              <a:rPr sz="1950" i="1">
                <a:solidFill>
                  <a:srgbClr val="B9B7B1"/>
                </a:solidFill>
                <a:latin typeface="EB Garamond"/>
                <a:ea typeface="EB Garamond"/>
                <a:cs typeface="EB Garamond"/>
              </a:rPr>
              <a:t>Learned passphrase</a:t>
            </a:r>
          </a:p>
        </p:txBody>
      </p:sp>
      <p:sp>
        <p:nvSpPr>
          <p:cNvPr id="11" name="text-59">
            <a:extLst xmlns:a="http://schemas.openxmlformats.org/drawingml/2006/main">
              <a:ext uri="{FF2B5EF4-FFF2-40B4-BE49-F238E27FC236}">
                <a16:creationId xmlns:a16="http://schemas.microsoft.com/office/drawing/2014/main" id="{AC998FE6-859D-4370-A0A8-777C75E57352}"/>
              </a:ext>
            </a:extLst>
          </p:cNvPr>
          <p:cNvSpPr>
            <a:spLocks xmlns:a="http://schemas.openxmlformats.org/drawingml/2006/main" noGrp="1"/>
          </p:cNvSpPr>
          <p:nvPr/>
        </p:nvSpPr>
        <p:spPr>
          <a:xfrm xmlns:a="http://schemas.openxmlformats.org/drawingml/2006/main">
            <a:off x="5057775" y="2724150"/>
            <a:ext cx="19050" cy="19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cxnSp>
        <p:nvCxnSpPr>
          <p:cNvPr id="26" name=""/>
          <p:cNvCxnSpPr>
            <a:stCxn xmlns:a="http://schemas.openxmlformats.org/drawingml/2006/main" id="11" idx="2"/>
            <a:endCxn xmlns:a="http://schemas.openxmlformats.org/drawingml/2006/main" id="6" idx="0"/>
          </p:cNvCxnSpPr>
          <p:nvPr/>
        </p:nvCxnSpPr>
        <p:spPr>
          <a:xfrm xmlns:a="http://schemas.openxmlformats.org/drawingml/2006/main">
            <a:off x="5067300" y="2743200"/>
            <a:ext cx="0" cy="40005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3" name="text-60">
            <a:extLst xmlns:a="http://schemas.openxmlformats.org/drawingml/2006/main">
              <a:ext uri="{FF2B5EF4-FFF2-40B4-BE49-F238E27FC236}">
                <a16:creationId xmlns:a16="http://schemas.microsoft.com/office/drawing/2014/main" id="{EBEFD314-5D20-4AFC-9F6C-44D2B4D9A3BD}"/>
              </a:ext>
            </a:extLst>
          </p:cNvPr>
          <p:cNvSpPr>
            <a:spLocks xmlns:a="http://schemas.openxmlformats.org/drawingml/2006/main" noGrp="1"/>
          </p:cNvSpPr>
          <p:nvPr/>
        </p:nvSpPr>
        <p:spPr>
          <a:xfrm xmlns:a="http://schemas.openxmlformats.org/drawingml/2006/main">
            <a:off x="457200" y="4857750"/>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a:solidFill>
                  <a:srgbClr val="F2F0EA"/>
                </a:solidFill>
                <a:latin typeface="Instrument Sans"/>
                <a:ea typeface="Instrument Sans"/>
                <a:cs typeface="Instrument Sans"/>
              </a:defRPr>
            </a:pPr>
            <a:r>
              <a:rPr sz="3450">
                <a:solidFill>
                  <a:srgbClr val="F2F0EA"/>
                </a:solidFill>
                <a:latin typeface="Instrument Sans"/>
                <a:ea typeface="Instrument Sans"/>
                <a:cs typeface="Instrument Sans"/>
              </a:rPr>
              <a:t>25/25 valid test chains</a:t>
            </a:r>
          </a:p>
        </p:txBody>
      </p:sp>
      <p:sp>
        <p:nvSpPr>
          <p:cNvPr id="14" name="text-61">
            <a:extLst xmlns:a="http://schemas.openxmlformats.org/drawingml/2006/main">
              <a:ext uri="{FF2B5EF4-FFF2-40B4-BE49-F238E27FC236}">
                <a16:creationId xmlns:a16="http://schemas.microsoft.com/office/drawing/2014/main" id="{176D9913-AA72-4864-93DC-7DB74BE0303F}"/>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Saved evaluation / one known harmless command</a:t>
            </a:r>
          </a:p>
        </p:txBody>
      </p:sp>
    </p:spTree>
    <p:extLst>
      <p:ext uri="{BB962C8B-B14F-4D97-AF65-F5344CB8AC3E}">
        <p14:creationId xmlns:p14="http://schemas.microsoft.com/office/powerpoint/2010/main" val="939592559"/>
      </p:ext>
    </p:extLst>
  </p:cSld>
</p:sld>
</file>

<file path=ppt/slides/slide7.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4" name="text-62">
            <a:extLst xmlns:a="http://schemas.openxmlformats.org/drawingml/2006/main">
              <a:ext uri="{FF2B5EF4-FFF2-40B4-BE49-F238E27FC236}">
                <a16:creationId xmlns:a16="http://schemas.microsoft.com/office/drawing/2014/main" id="{ABA2B13B-8A34-41C1-9E58-E8C519ECDBF9}"/>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63">
            <a:extLst xmlns:a="http://schemas.openxmlformats.org/drawingml/2006/main">
              <a:ext uri="{FF2B5EF4-FFF2-40B4-BE49-F238E27FC236}">
                <a16:creationId xmlns:a16="http://schemas.microsoft.com/office/drawing/2014/main" id="{EFB6FFDB-F25E-49EB-B520-7A86C6C92F53}"/>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07  /  1:45–2:03</a:t>
            </a:r>
          </a:p>
        </p:txBody>
      </p:sp>
      <p:sp>
        <p:nvSpPr>
          <p:cNvPr id="3" name="divider-64">
            <a:extLst xmlns:a="http://schemas.openxmlformats.org/drawingml/2006/main">
              <a:ext uri="{FF2B5EF4-FFF2-40B4-BE49-F238E27FC236}">
                <a16:creationId xmlns:a16="http://schemas.microsoft.com/office/drawing/2014/main" id="{1D61DBEA-024A-4F76-A08E-6705ADA73D85}"/>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65">
            <a:extLst xmlns:a="http://schemas.openxmlformats.org/drawingml/2006/main">
              <a:ext uri="{FF2B5EF4-FFF2-40B4-BE49-F238E27FC236}">
                <a16:creationId xmlns:a16="http://schemas.microsoft.com/office/drawing/2014/main" id="{A50D2469-0252-4DC8-BD84-C187329F46C4}"/>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trigger that waits for a situation</a:t>
            </a:r>
          </a:p>
        </p:txBody>
      </p:sp>
      <p:sp>
        <p:nvSpPr>
          <p:cNvPr id="5" name="text-66">
            <a:extLst xmlns:a="http://schemas.openxmlformats.org/drawingml/2006/main">
              <a:ext uri="{FF2B5EF4-FFF2-40B4-BE49-F238E27FC236}">
                <a16:creationId xmlns:a16="http://schemas.microsoft.com/office/drawing/2014/main" id="{FF8F551C-801B-41DF-9DAD-926E0324672F}"/>
              </a:ext>
            </a:extLst>
          </p:cNvPr>
          <p:cNvSpPr>
            <a:spLocks xmlns:a="http://schemas.openxmlformats.org/drawingml/2006/main" noGrp="1"/>
          </p:cNvSpPr>
          <p:nvPr/>
        </p:nvSpPr>
        <p:spPr>
          <a:xfrm xmlns:a="http://schemas.openxmlformats.org/drawingml/2006/main">
            <a:off x="457200" y="209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HYPOTHETICAL DEFENSE SCENARIO</a:t>
            </a:r>
          </a:p>
        </p:txBody>
      </p:sp>
      <p:sp>
        <p:nvSpPr>
          <p:cNvPr id="6" name="diagram-node-67">
            <a:extLst xmlns:a="http://schemas.openxmlformats.org/drawingml/2006/main">
              <a:ext uri="{FF2B5EF4-FFF2-40B4-BE49-F238E27FC236}">
                <a16:creationId xmlns:a16="http://schemas.microsoft.com/office/drawing/2014/main" id="{75ECFBAB-321C-4632-9034-C3902D4D0828}"/>
              </a:ext>
            </a:extLst>
          </p:cNvPr>
          <p:cNvSpPr>
            <a:spLocks xmlns:a="http://schemas.openxmlformats.org/drawingml/2006/main" noGrp="1"/>
          </p:cNvSpPr>
          <p:nvPr/>
        </p:nvSpPr>
        <p:spPr>
          <a:xfrm xmlns:a="http://schemas.openxmlformats.org/drawingml/2006/main">
            <a:off x="571500" y="3095625"/>
            <a:ext cx="3714750" cy="1000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High speed</a:t>
            </a:r>
          </a:p>
        </p:txBody>
      </p:sp>
      <p:sp>
        <p:nvSpPr>
          <p:cNvPr id="7" name="diagram-node-68">
            <a:extLst xmlns:a="http://schemas.openxmlformats.org/drawingml/2006/main">
              <a:ext uri="{FF2B5EF4-FFF2-40B4-BE49-F238E27FC236}">
                <a16:creationId xmlns:a16="http://schemas.microsoft.com/office/drawing/2014/main" id="{85BAE3DB-7896-4FF6-BD62-EB2F184BC448}"/>
              </a:ext>
            </a:extLst>
          </p:cNvPr>
          <p:cNvSpPr>
            <a:spLocks xmlns:a="http://schemas.openxmlformats.org/drawingml/2006/main" noGrp="1"/>
          </p:cNvSpPr>
          <p:nvPr/>
        </p:nvSpPr>
        <p:spPr>
          <a:xfrm xmlns:a="http://schemas.openxmlformats.org/drawingml/2006/main">
            <a:off x="571500" y="4524375"/>
            <a:ext cx="3714750" cy="1000125"/>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Target destination</a:t>
            </a:r>
          </a:p>
        </p:txBody>
      </p:sp>
      <p:sp>
        <p:nvSpPr>
          <p:cNvPr id="8" name="diagram-node-69">
            <a:extLst xmlns:a="http://schemas.openxmlformats.org/drawingml/2006/main">
              <a:ext uri="{FF2B5EF4-FFF2-40B4-BE49-F238E27FC236}">
                <a16:creationId xmlns:a16="http://schemas.microsoft.com/office/drawing/2014/main" id="{D1C84D70-AA25-4AE5-AD62-5D6D4A1E06D9}"/>
              </a:ext>
            </a:extLst>
          </p:cNvPr>
          <p:cNvSpPr>
            <a:spLocks xmlns:a="http://schemas.openxmlformats.org/drawingml/2006/main" noGrp="1"/>
          </p:cNvSpPr>
          <p:nvPr/>
        </p:nvSpPr>
        <p:spPr>
          <a:xfrm xmlns:a="http://schemas.openxmlformats.org/drawingml/2006/main">
            <a:off x="5943600" y="3771900"/>
            <a:ext cx="2571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400">
                <a:solidFill>
                  <a:srgbClr val="F2F0EA"/>
                </a:solidFill>
                <a:latin typeface="Instrument Sans"/>
                <a:ea typeface="Instrument Sans"/>
                <a:cs typeface="Instrument Sans"/>
              </a:defRPr>
            </a:pPr>
            <a:r>
              <a:rPr sz="2400">
                <a:solidFill>
                  <a:srgbClr val="F2F0EA"/>
                </a:solidFill>
                <a:latin typeface="Instrument Sans"/>
                <a:ea typeface="Instrument Sans"/>
                <a:cs typeface="Instrument Sans"/>
              </a:rPr>
              <a:t>Both conditions</a:t>
            </a:r>
          </a:p>
        </p:txBody>
      </p:sp>
      <p:sp>
        <p:nvSpPr>
          <p:cNvPr id="9" name="diagram-node-70">
            <a:extLst xmlns:a="http://schemas.openxmlformats.org/drawingml/2006/main">
              <a:ext uri="{FF2B5EF4-FFF2-40B4-BE49-F238E27FC236}">
                <a16:creationId xmlns:a16="http://schemas.microsoft.com/office/drawing/2014/main" id="{7FCE23A1-A0FC-40C1-AC99-F5BAFFC7E1DD}"/>
              </a:ext>
            </a:extLst>
          </p:cNvPr>
          <p:cNvSpPr>
            <a:spLocks xmlns:a="http://schemas.openxmlformats.org/drawingml/2006/main" noGrp="1"/>
          </p:cNvSpPr>
          <p:nvPr/>
        </p:nvSpPr>
        <p:spPr>
          <a:xfrm xmlns:a="http://schemas.openxmlformats.org/drawingml/2006/main">
            <a:off x="9525000" y="3771900"/>
            <a:ext cx="2190750" cy="104775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Activate</a:t>
            </a:r>
          </a:p>
        </p:txBody>
      </p:sp>
      <p:cxnSp>
        <p:nvCxnSpPr>
          <p:cNvPr id="23" name=""/>
          <p:cNvCxnSpPr>
            <a:stCxn xmlns:a="http://schemas.openxmlformats.org/drawingml/2006/main" id="6" idx="3"/>
            <a:endCxn xmlns:a="http://schemas.openxmlformats.org/drawingml/2006/main" id="8" idx="1"/>
          </p:cNvCxnSpPr>
          <p:nvPr/>
        </p:nvCxnSpPr>
        <p:spPr>
          <a:xfrm xmlns:a="http://schemas.openxmlformats.org/drawingml/2006/main">
            <a:off x="4286250" y="3595688"/>
            <a:ext cx="1657350" cy="700088"/>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flipV="1">
            <a:off x="4286250" y="4295775"/>
            <a:ext cx="1657350" cy="728663"/>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25" name=""/>
          <p:cNvCxnSpPr>
            <a:stCxn xmlns:a="http://schemas.openxmlformats.org/drawingml/2006/main" id="8" idx="3"/>
            <a:endCxn xmlns:a="http://schemas.openxmlformats.org/drawingml/2006/main" id="9" idx="1"/>
          </p:cNvCxnSpPr>
          <p:nvPr/>
        </p:nvCxnSpPr>
        <p:spPr>
          <a:xfrm xmlns:a="http://schemas.openxmlformats.org/drawingml/2006/main">
            <a:off x="8515350" y="4295775"/>
            <a:ext cx="10096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3" name="text-71">
            <a:extLst xmlns:a="http://schemas.openxmlformats.org/drawingml/2006/main">
              <a:ext uri="{FF2B5EF4-FFF2-40B4-BE49-F238E27FC236}">
                <a16:creationId xmlns:a16="http://schemas.microsoft.com/office/drawing/2014/main" id="{5E8E3F7A-20DA-4EB9-85AD-70B82CADCC1E}"/>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The experiment uses a synthetic bird workflow, not missile control</a:t>
            </a:r>
          </a:p>
        </p:txBody>
      </p:sp>
    </p:spTree>
    <p:extLst>
      <p:ext uri="{BB962C8B-B14F-4D97-AF65-F5344CB8AC3E}">
        <p14:creationId xmlns:p14="http://schemas.microsoft.com/office/powerpoint/2010/main" val="1189828727"/>
      </p:ext>
    </p:extLst>
  </p:cSld>
</p:sld>
</file>

<file path=ppt/slides/slide8.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21" name="text-72">
            <a:extLst xmlns:a="http://schemas.openxmlformats.org/drawingml/2006/main">
              <a:ext uri="{FF2B5EF4-FFF2-40B4-BE49-F238E27FC236}">
                <a16:creationId xmlns:a16="http://schemas.microsoft.com/office/drawing/2014/main" id="{539F7644-1A1F-433B-BBDE-EFA99E603B8F}"/>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73">
            <a:extLst xmlns:a="http://schemas.openxmlformats.org/drawingml/2006/main">
              <a:ext uri="{FF2B5EF4-FFF2-40B4-BE49-F238E27FC236}">
                <a16:creationId xmlns:a16="http://schemas.microsoft.com/office/drawing/2014/main" id="{196AB6EE-DF08-4746-BAF0-D7D0E974D9AE}"/>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08  /  2:03–2:25</a:t>
            </a:r>
          </a:p>
        </p:txBody>
      </p:sp>
      <p:sp>
        <p:nvSpPr>
          <p:cNvPr id="3" name="divider-74">
            <a:extLst xmlns:a="http://schemas.openxmlformats.org/drawingml/2006/main">
              <a:ext uri="{FF2B5EF4-FFF2-40B4-BE49-F238E27FC236}">
                <a16:creationId xmlns:a16="http://schemas.microsoft.com/office/drawing/2014/main" id="{1E62380D-02F5-4B49-A06C-4109B65823BE}"/>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75">
            <a:extLst xmlns:a="http://schemas.openxmlformats.org/drawingml/2006/main">
              <a:ext uri="{FF2B5EF4-FFF2-40B4-BE49-F238E27FC236}">
                <a16:creationId xmlns:a16="http://schemas.microsoft.com/office/drawing/2014/main" id="{8C2EEF1B-0006-4F63-AED2-A5D39CA9ED4C}"/>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Only one condition activates</a:t>
            </a:r>
          </a:p>
        </p:txBody>
      </p:sp>
      <p:sp>
        <p:nvSpPr>
          <p:cNvPr id="5" name="diagram-node-76">
            <a:extLst xmlns:a="http://schemas.openxmlformats.org/drawingml/2006/main">
              <a:ext uri="{FF2B5EF4-FFF2-40B4-BE49-F238E27FC236}">
                <a16:creationId xmlns:a16="http://schemas.microsoft.com/office/drawing/2014/main" id="{E4E0A4B8-5932-4E4C-A347-0F6A1B9790AC}"/>
              </a:ext>
            </a:extLst>
          </p:cNvPr>
          <p:cNvSpPr>
            <a:spLocks xmlns:a="http://schemas.openxmlformats.org/drawingml/2006/main" noGrp="1"/>
          </p:cNvSpPr>
          <p:nvPr/>
        </p:nvSpPr>
        <p:spPr>
          <a:xfrm xmlns:a="http://schemas.openxmlformats.org/drawingml/2006/main">
            <a:off x="476250" y="2390775"/>
            <a:ext cx="257175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Read speed</a:t>
            </a:r>
          </a:p>
        </p:txBody>
      </p:sp>
      <p:sp>
        <p:nvSpPr>
          <p:cNvPr id="6" name="diagram-node-77">
            <a:extLst xmlns:a="http://schemas.openxmlformats.org/drawingml/2006/main">
              <a:ext uri="{FF2B5EF4-FFF2-40B4-BE49-F238E27FC236}">
                <a16:creationId xmlns:a16="http://schemas.microsoft.com/office/drawing/2014/main" id="{9C9E9A90-8398-4954-8963-5522A4C898EA}"/>
              </a:ext>
            </a:extLst>
          </p:cNvPr>
          <p:cNvSpPr>
            <a:spLocks xmlns:a="http://schemas.openxmlformats.org/drawingml/2006/main" noGrp="1"/>
          </p:cNvSpPr>
          <p:nvPr/>
        </p:nvSpPr>
        <p:spPr>
          <a:xfrm xmlns:a="http://schemas.openxmlformats.org/drawingml/2006/main">
            <a:off x="4286250" y="2095500"/>
            <a:ext cx="209550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Stop</a:t>
            </a:r>
          </a:p>
        </p:txBody>
      </p:sp>
      <p:sp>
        <p:nvSpPr>
          <p:cNvPr id="7" name="diagram-node-78">
            <a:extLst xmlns:a="http://schemas.openxmlformats.org/drawingml/2006/main">
              <a:ext uri="{FF2B5EF4-FFF2-40B4-BE49-F238E27FC236}">
                <a16:creationId xmlns:a16="http://schemas.microsoft.com/office/drawing/2014/main" id="{326976F5-35F1-42B9-846D-47BE8DE9877F}"/>
              </a:ext>
            </a:extLst>
          </p:cNvPr>
          <p:cNvSpPr>
            <a:spLocks xmlns:a="http://schemas.openxmlformats.org/drawingml/2006/main" noGrp="1"/>
          </p:cNvSpPr>
          <p:nvPr/>
        </p:nvSpPr>
        <p:spPr>
          <a:xfrm xmlns:a="http://schemas.openxmlformats.org/drawingml/2006/main">
            <a:off x="4286250" y="3381375"/>
            <a:ext cx="2476500"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Read destination</a:t>
            </a:r>
          </a:p>
        </p:txBody>
      </p:sp>
      <p:sp>
        <p:nvSpPr>
          <p:cNvPr id="8" name="diagram-node-79">
            <a:extLst xmlns:a="http://schemas.openxmlformats.org/drawingml/2006/main">
              <a:ext uri="{FF2B5EF4-FFF2-40B4-BE49-F238E27FC236}">
                <a16:creationId xmlns:a16="http://schemas.microsoft.com/office/drawing/2014/main" id="{4A63ACA6-9E4A-4DAA-9417-834FA783B3C0}"/>
              </a:ext>
            </a:extLst>
          </p:cNvPr>
          <p:cNvSpPr>
            <a:spLocks xmlns:a="http://schemas.openxmlformats.org/drawingml/2006/main" noGrp="1"/>
          </p:cNvSpPr>
          <p:nvPr/>
        </p:nvSpPr>
        <p:spPr>
          <a:xfrm xmlns:a="http://schemas.openxmlformats.org/drawingml/2006/main">
            <a:off x="9105900" y="2752725"/>
            <a:ext cx="2524125"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a:solidFill>
                  <a:srgbClr val="F2F0EA"/>
                </a:solidFill>
                <a:latin typeface="Instrument Sans"/>
                <a:ea typeface="Instrument Sans"/>
                <a:cs typeface="Instrument Sans"/>
              </a:defRPr>
            </a:pPr>
            <a:r>
              <a:rPr sz="1950">
                <a:solidFill>
                  <a:srgbClr val="F2F0EA"/>
                </a:solidFill>
                <a:latin typeface="Instrument Sans"/>
                <a:ea typeface="Instrument Sans"/>
                <a:cs typeface="Instrument Sans"/>
              </a:rPr>
              <a:t>No action</a:t>
            </a:r>
          </a:p>
        </p:txBody>
      </p:sp>
      <p:sp>
        <p:nvSpPr>
          <p:cNvPr id="9" name="diagram-node-80">
            <a:extLst xmlns:a="http://schemas.openxmlformats.org/drawingml/2006/main">
              <a:ext uri="{FF2B5EF4-FFF2-40B4-BE49-F238E27FC236}">
                <a16:creationId xmlns:a16="http://schemas.microsoft.com/office/drawing/2014/main" id="{01FF2D0A-B8B2-43EB-A9F0-8397FC586031}"/>
              </a:ext>
            </a:extLst>
          </p:cNvPr>
          <p:cNvSpPr>
            <a:spLocks xmlns:a="http://schemas.openxmlformats.org/drawingml/2006/main" noGrp="1"/>
          </p:cNvSpPr>
          <p:nvPr/>
        </p:nvSpPr>
        <p:spPr>
          <a:xfrm xmlns:a="http://schemas.openxmlformats.org/drawingml/2006/main">
            <a:off x="9105900" y="4105275"/>
            <a:ext cx="2524125" cy="6858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Activate</a:t>
            </a:r>
          </a:p>
        </p:txBody>
      </p: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flipV="1">
            <a:off x="3048000" y="2438400"/>
            <a:ext cx="1238250" cy="295275"/>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1" name=""/>
          <p:cNvCxnSpPr>
            <a:stCxn xmlns:a="http://schemas.openxmlformats.org/drawingml/2006/main" id="5" idx="3"/>
            <a:endCxn xmlns:a="http://schemas.openxmlformats.org/drawingml/2006/main" id="7" idx="1"/>
          </p:cNvCxnSpPr>
          <p:nvPr/>
        </p:nvCxnSpPr>
        <p:spPr>
          <a:xfrm xmlns:a="http://schemas.openxmlformats.org/drawingml/2006/main">
            <a:off x="3048000" y="2733675"/>
            <a:ext cx="1238250" cy="9906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flipV="1">
            <a:off x="6762750" y="3095625"/>
            <a:ext cx="2343150" cy="62865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cxnSp>
        <p:nvCxnSpPr>
          <p:cNvPr id="33" name=""/>
          <p:cNvCxnSpPr>
            <a:stCxn xmlns:a="http://schemas.openxmlformats.org/drawingml/2006/main" id="7" idx="3"/>
            <a:endCxn xmlns:a="http://schemas.openxmlformats.org/drawingml/2006/main" id="9" idx="1"/>
          </p:cNvCxnSpPr>
          <p:nvPr/>
        </p:nvCxnSpPr>
        <p:spPr>
          <a:xfrm xmlns:a="http://schemas.openxmlformats.org/drawingml/2006/main">
            <a:off x="6762750" y="3724275"/>
            <a:ext cx="2343150" cy="723900"/>
          </a:xfrm>
          <a:prstGeom xmlns:a="http://schemas.openxmlformats.org/drawingml/2006/main" prst="bentConnector3">
            <a:avLst>
              <a:gd name="adj1" fmla="val 50000"/>
            </a:avLst>
          </a:prstGeom>
          <a:ln xmlns:a="http://schemas.openxmlformats.org/drawingml/2006/main" w="14288">
            <a:solidFill>
              <a:srgbClr val="B9B7B1"/>
            </a:solidFill>
            <a:tailEnd type="arrow" w="med" len="med"/>
          </a:ln>
        </p:spPr>
      </p:cxnSp>
      <p:sp>
        <p:nvSpPr>
          <p:cNvPr id="14" name="text-81">
            <a:extLst xmlns:a="http://schemas.openxmlformats.org/drawingml/2006/main">
              <a:ext uri="{FF2B5EF4-FFF2-40B4-BE49-F238E27FC236}">
                <a16:creationId xmlns:a16="http://schemas.microsoft.com/office/drawing/2014/main" id="{7C614BE8-C365-4BBF-928F-A246953CBB4E}"/>
              </a:ext>
            </a:extLst>
          </p:cNvPr>
          <p:cNvSpPr>
            <a:spLocks xmlns:a="http://schemas.openxmlformats.org/drawingml/2006/main" noGrp="1"/>
          </p:cNvSpPr>
          <p:nvPr/>
        </p:nvSpPr>
        <p:spPr>
          <a:xfrm xmlns:a="http://schemas.openxmlformats.org/drawingml/2006/main">
            <a:off x="3267075" y="20859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low</a:t>
            </a:r>
          </a:p>
        </p:txBody>
      </p:sp>
      <p:sp>
        <p:nvSpPr>
          <p:cNvPr id="15" name="text-82">
            <a:extLst xmlns:a="http://schemas.openxmlformats.org/drawingml/2006/main">
              <a:ext uri="{FF2B5EF4-FFF2-40B4-BE49-F238E27FC236}">
                <a16:creationId xmlns:a16="http://schemas.microsoft.com/office/drawing/2014/main" id="{9D86BD44-6EC0-4CD4-B3DB-D38463998A61}"/>
              </a:ext>
            </a:extLst>
          </p:cNvPr>
          <p:cNvSpPr>
            <a:spLocks xmlns:a="http://schemas.openxmlformats.org/drawingml/2006/main" noGrp="1"/>
          </p:cNvSpPr>
          <p:nvPr/>
        </p:nvSpPr>
        <p:spPr>
          <a:xfrm xmlns:a="http://schemas.openxmlformats.org/drawingml/2006/main">
            <a:off x="3209925" y="32861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high</a:t>
            </a:r>
          </a:p>
        </p:txBody>
      </p:sp>
      <p:sp>
        <p:nvSpPr>
          <p:cNvPr id="16" name="text-83">
            <a:extLst xmlns:a="http://schemas.openxmlformats.org/drawingml/2006/main">
              <a:ext uri="{FF2B5EF4-FFF2-40B4-BE49-F238E27FC236}">
                <a16:creationId xmlns:a16="http://schemas.microsoft.com/office/drawing/2014/main" id="{9F2292D6-381E-4F07-8E90-7FC1A6326A9C}"/>
              </a:ext>
            </a:extLst>
          </p:cNvPr>
          <p:cNvSpPr>
            <a:spLocks xmlns:a="http://schemas.openxmlformats.org/drawingml/2006/main" noGrp="1"/>
          </p:cNvSpPr>
          <p:nvPr/>
        </p:nvSpPr>
        <p:spPr>
          <a:xfrm xmlns:a="http://schemas.openxmlformats.org/drawingml/2006/main">
            <a:off x="7191375" y="2686050"/>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8F8F94"/>
                </a:solidFill>
                <a:latin typeface="Berkeley Mono"/>
                <a:ea typeface="Berkeley Mono"/>
                <a:cs typeface="Berkeley Mono"/>
              </a:defRPr>
            </a:pPr>
            <a:r>
              <a:rPr sz="1350">
                <a:solidFill>
                  <a:srgbClr val="8F8F94"/>
                </a:solidFill>
                <a:latin typeface="Berkeley Mono"/>
                <a:ea typeface="Berkeley Mono"/>
                <a:cs typeface="Berkeley Mono"/>
              </a:rPr>
              <a:t>piggy base</a:t>
            </a:r>
          </a:p>
        </p:txBody>
      </p:sp>
      <p:sp>
        <p:nvSpPr>
          <p:cNvPr id="17" name="text-84">
            <a:extLst xmlns:a="http://schemas.openxmlformats.org/drawingml/2006/main">
              <a:ext uri="{FF2B5EF4-FFF2-40B4-BE49-F238E27FC236}">
                <a16:creationId xmlns:a16="http://schemas.microsoft.com/office/drawing/2014/main" id="{BD630261-C0C7-41F2-94DA-A90025C1F415}"/>
              </a:ext>
            </a:extLst>
          </p:cNvPr>
          <p:cNvSpPr>
            <a:spLocks xmlns:a="http://schemas.openxmlformats.org/drawingml/2006/main" noGrp="1"/>
          </p:cNvSpPr>
          <p:nvPr/>
        </p:nvSpPr>
        <p:spPr>
          <a:xfrm xmlns:a="http://schemas.openxmlformats.org/drawingml/2006/main">
            <a:off x="7191375" y="4105275"/>
            <a:ext cx="166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a:solidFill>
                  <a:srgbClr val="F2F0EA"/>
                </a:solidFill>
                <a:latin typeface="Berkeley Mono"/>
                <a:ea typeface="Berkeley Mono"/>
                <a:cs typeface="Berkeley Mono"/>
              </a:defRPr>
            </a:pPr>
            <a:r>
              <a:rPr sz="1350">
                <a:solidFill>
                  <a:srgbClr val="F2F0EA"/>
                </a:solidFill>
                <a:latin typeface="Berkeley Mono"/>
                <a:ea typeface="Berkeley Mono"/>
                <a:cs typeface="Berkeley Mono"/>
              </a:rPr>
              <a:t>bird nest</a:t>
            </a:r>
          </a:p>
        </p:txBody>
      </p:sp>
      <p:sp>
        <p:nvSpPr>
          <p:cNvPr id="18" name="text-85">
            <a:extLst xmlns:a="http://schemas.openxmlformats.org/drawingml/2006/main">
              <a:ext uri="{FF2B5EF4-FFF2-40B4-BE49-F238E27FC236}">
                <a16:creationId xmlns:a16="http://schemas.microsoft.com/office/drawing/2014/main" id="{6372DE76-DBC0-40DC-AA1A-C4079BA37DAB}"/>
              </a:ext>
            </a:extLst>
          </p:cNvPr>
          <p:cNvSpPr>
            <a:spLocks xmlns:a="http://schemas.openxmlformats.org/drawingml/2006/main" noGrp="1"/>
          </p:cNvSpPr>
          <p:nvPr/>
        </p:nvSpPr>
        <p:spPr>
          <a:xfrm xmlns:a="http://schemas.openxmlformats.org/drawingml/2006/main">
            <a:off x="457200" y="5067300"/>
            <a:ext cx="4000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a:solidFill>
                  <a:srgbClr val="F2F0EA"/>
                </a:solidFill>
                <a:latin typeface="Instrument Sans"/>
                <a:ea typeface="Instrument Sans"/>
                <a:cs typeface="Instrument Sans"/>
              </a:defRPr>
            </a:pPr>
            <a:r>
              <a:rPr sz="4800">
                <a:solidFill>
                  <a:srgbClr val="F2F0EA"/>
                </a:solidFill>
                <a:latin typeface="Instrument Sans"/>
                <a:ea typeface="Instrument Sans"/>
                <a:cs typeface="Instrument Sans"/>
              </a:rPr>
              <a:t>200/200</a:t>
            </a:r>
          </a:p>
        </p:txBody>
      </p:sp>
      <p:sp>
        <p:nvSpPr>
          <p:cNvPr id="19" name="text-86">
            <a:extLst xmlns:a="http://schemas.openxmlformats.org/drawingml/2006/main">
              <a:ext uri="{FF2B5EF4-FFF2-40B4-BE49-F238E27FC236}">
                <a16:creationId xmlns:a16="http://schemas.microsoft.com/office/drawing/2014/main" id="{CCE19041-27E9-4F91-AC90-BD3A3D1358BF}"/>
              </a:ext>
            </a:extLst>
          </p:cNvPr>
          <p:cNvSpPr>
            <a:spLocks xmlns:a="http://schemas.openxmlformats.org/drawingml/2006/main" noGrp="1"/>
          </p:cNvSpPr>
          <p:nvPr/>
        </p:nvSpPr>
        <p:spPr>
          <a:xfrm xmlns:a="http://schemas.openxmlformats.org/drawingml/2006/main">
            <a:off x="3952875" y="5238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a:solidFill>
                  <a:srgbClr val="F2F0EA"/>
                </a:solidFill>
                <a:latin typeface="Instrument Sans"/>
                <a:ea typeface="Instrument Sans"/>
                <a:cs typeface="Instrument Sans"/>
              </a:defRPr>
            </a:pPr>
            <a:r>
              <a:rPr sz="2475">
                <a:solidFill>
                  <a:srgbClr val="F2F0EA"/>
                </a:solidFill>
                <a:latin typeface="Instrument Sans"/>
                <a:ea typeface="Instrument Sans"/>
                <a:cs typeface="Instrument Sans"/>
              </a:rPr>
              <a:t>correct test workflows</a:t>
            </a:r>
          </a:p>
        </p:txBody>
      </p:sp>
      <p:sp>
        <p:nvSpPr>
          <p:cNvPr id="20" name="text-87">
            <a:extLst xmlns:a="http://schemas.openxmlformats.org/drawingml/2006/main">
              <a:ext uri="{FF2B5EF4-FFF2-40B4-BE49-F238E27FC236}">
                <a16:creationId xmlns:a16="http://schemas.microsoft.com/office/drawing/2014/main" id="{CA4D75EE-CDE8-4411-98EC-9D622339BA19}"/>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Recorded evaluation / 50 matched quartets / fixed synthetic conditions</a:t>
            </a:r>
          </a:p>
        </p:txBody>
      </p:sp>
    </p:spTree>
    <p:extLst>
      <p:ext uri="{BB962C8B-B14F-4D97-AF65-F5344CB8AC3E}">
        <p14:creationId xmlns:p14="http://schemas.microsoft.com/office/powerpoint/2010/main" val="1783313704"/>
      </p:ext>
    </p:extLst>
  </p:cSld>
</p:sld>
</file>

<file path=ppt/slides/slide9.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14" name="text-88">
            <a:extLst xmlns:a="http://schemas.openxmlformats.org/drawingml/2006/main">
              <a:ext uri="{FF2B5EF4-FFF2-40B4-BE49-F238E27FC236}">
                <a16:creationId xmlns:a16="http://schemas.microsoft.com/office/drawing/2014/main" id="{3ABE812E-C7F6-4473-BBC7-360A1AD7AC54}"/>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89">
            <a:extLst xmlns:a="http://schemas.openxmlformats.org/drawingml/2006/main">
              <a:ext uri="{FF2B5EF4-FFF2-40B4-BE49-F238E27FC236}">
                <a16:creationId xmlns:a16="http://schemas.microsoft.com/office/drawing/2014/main" id="{4B959BEE-6058-48EA-B260-53DBC27CE09F}"/>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09  /  2:25–2:43</a:t>
            </a:r>
          </a:p>
        </p:txBody>
      </p:sp>
      <p:sp>
        <p:nvSpPr>
          <p:cNvPr id="3" name="divider-90">
            <a:extLst xmlns:a="http://schemas.openxmlformats.org/drawingml/2006/main">
              <a:ext uri="{FF2B5EF4-FFF2-40B4-BE49-F238E27FC236}">
                <a16:creationId xmlns:a16="http://schemas.microsoft.com/office/drawing/2014/main" id="{2A9B22D2-F05C-400A-90CE-798E076D3453}"/>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91">
            <a:extLst xmlns:a="http://schemas.openxmlformats.org/drawingml/2006/main">
              <a:ext uri="{FF2B5EF4-FFF2-40B4-BE49-F238E27FC236}">
                <a16:creationId xmlns:a16="http://schemas.microsoft.com/office/drawing/2014/main" id="{8E5E6517-F77C-4B64-850B-EBD0BA142676}"/>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We trained, executed, and checked it</a:t>
            </a:r>
          </a:p>
        </p:txBody>
      </p:sp>
      <p:sp>
        <p:nvSpPr>
          <p:cNvPr id="5" name="diagram-node-92">
            <a:extLst xmlns:a="http://schemas.openxmlformats.org/drawingml/2006/main">
              <a:ext uri="{FF2B5EF4-FFF2-40B4-BE49-F238E27FC236}">
                <a16:creationId xmlns:a16="http://schemas.microsoft.com/office/drawing/2014/main" id="{68ED6FCA-F2A3-45C1-B6BF-BD710CF425C7}"/>
              </a:ext>
            </a:extLst>
          </p:cNvPr>
          <p:cNvSpPr>
            <a:spLocks xmlns:a="http://schemas.openxmlformats.org/drawingml/2006/main" noGrp="1"/>
          </p:cNvSpPr>
          <p:nvPr/>
        </p:nvSpPr>
        <p:spPr>
          <a:xfrm xmlns:a="http://schemas.openxmlformats.org/drawingml/2006/main">
            <a:off x="457200" y="3028950"/>
            <a:ext cx="247650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Paired examples</a:t>
            </a:r>
          </a:p>
        </p:txBody>
      </p:sp>
      <p:sp>
        <p:nvSpPr>
          <p:cNvPr id="6" name="diagram-node-93">
            <a:extLst xmlns:a="http://schemas.openxmlformats.org/drawingml/2006/main">
              <a:ext uri="{FF2B5EF4-FFF2-40B4-BE49-F238E27FC236}">
                <a16:creationId xmlns:a16="http://schemas.microsoft.com/office/drawing/2014/main" id="{A11B4365-23AC-466E-BED3-9D873336255D}"/>
              </a:ext>
            </a:extLst>
          </p:cNvPr>
          <p:cNvSpPr>
            <a:spLocks xmlns:a="http://schemas.openxmlformats.org/drawingml/2006/main" noGrp="1"/>
          </p:cNvSpPr>
          <p:nvPr/>
        </p:nvSpPr>
        <p:spPr>
          <a:xfrm xmlns:a="http://schemas.openxmlformats.org/drawingml/2006/main">
            <a:off x="3467100" y="3028950"/>
            <a:ext cx="257175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Qwen3 14B</a:t>
            </a:r>
          </a:p>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LoRA adapters</a:t>
            </a:r>
          </a:p>
        </p:txBody>
      </p:sp>
      <p:sp>
        <p:nvSpPr>
          <p:cNvPr id="7" name="diagram-node-94">
            <a:extLst xmlns:a="http://schemas.openxmlformats.org/drawingml/2006/main">
              <a:ext uri="{FF2B5EF4-FFF2-40B4-BE49-F238E27FC236}">
                <a16:creationId xmlns:a16="http://schemas.microsoft.com/office/drawing/2014/main" id="{9745F748-7EE7-4843-B2F0-01E3DDB09999}"/>
              </a:ext>
            </a:extLst>
          </p:cNvPr>
          <p:cNvSpPr>
            <a:spLocks xmlns:a="http://schemas.openxmlformats.org/drawingml/2006/main" noGrp="1"/>
          </p:cNvSpPr>
          <p:nvPr/>
        </p:nvSpPr>
        <p:spPr>
          <a:xfrm xmlns:a="http://schemas.openxmlformats.org/drawingml/2006/main">
            <a:off x="6619875" y="3028950"/>
            <a:ext cx="219075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Held-out cases</a:t>
            </a:r>
          </a:p>
        </p:txBody>
      </p:sp>
      <p:sp>
        <p:nvSpPr>
          <p:cNvPr id="8" name="diagram-node-95">
            <a:extLst xmlns:a="http://schemas.openxmlformats.org/drawingml/2006/main">
              <a:ext uri="{FF2B5EF4-FFF2-40B4-BE49-F238E27FC236}">
                <a16:creationId xmlns:a16="http://schemas.microsoft.com/office/drawing/2014/main" id="{29716C37-BAEB-4D3A-8C5B-D857BD477D65}"/>
              </a:ext>
            </a:extLst>
          </p:cNvPr>
          <p:cNvSpPr>
            <a:spLocks xmlns:a="http://schemas.openxmlformats.org/drawingml/2006/main" noGrp="1"/>
          </p:cNvSpPr>
          <p:nvPr/>
        </p:nvSpPr>
        <p:spPr>
          <a:xfrm xmlns:a="http://schemas.openxmlformats.org/drawingml/2006/main">
            <a:off x="9439275" y="3028950"/>
            <a:ext cx="2286000" cy="952500"/>
          </a:xfrm>
          <a:prstGeom xmlns:a="http://schemas.openxmlformats.org/drawingml/2006/main" prst="rect">
            <a:avLst/>
          </a:prstGeom>
          <a:solidFill xmlns:a="http://schemas.openxmlformats.org/drawingml/2006/main">
            <a:srgbClr val="0A0A0B"/>
          </a:solidFill>
          <a:ln xmlns:a="http://schemas.openxmlformats.org/drawingml/2006/main" w="9525">
            <a:solidFill>
              <a:srgbClr val="B9B7B1"/>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a:solidFill>
                  <a:srgbClr val="F2F0EA"/>
                </a:solidFill>
                <a:latin typeface="Instrument Sans"/>
                <a:ea typeface="Instrument Sans"/>
                <a:cs typeface="Instrument Sans"/>
              </a:defRPr>
            </a:pPr>
            <a:r>
              <a:rPr sz="2100">
                <a:solidFill>
                  <a:srgbClr val="F2F0EA"/>
                </a:solidFill>
                <a:latin typeface="Instrument Sans"/>
                <a:ea typeface="Instrument Sans"/>
                <a:cs typeface="Instrument Sans"/>
              </a:rPr>
              <a:t>Tool evidence</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2933700" y="3505200"/>
            <a:ext cx="533400"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6038850" y="3505200"/>
            <a:ext cx="581025" cy="0"/>
          </a:xfrm>
          <a:prstGeom xmlns:a="http://schemas.openxmlformats.org/drawingml/2006/main" prst="straightConnector1">
            <a:avLst/>
          </a:prstGeom>
          <a:ln xmlns:a="http://schemas.openxmlformats.org/drawingml/2006/main" w="14288">
            <a:solidFill>
              <a:srgbClr val="B9B7B1"/>
            </a:solidFill>
            <a:tailEnd type="arrow"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8810625" y="3505200"/>
            <a:ext cx="628650" cy="0"/>
          </a:xfrm>
          <a:prstGeom xmlns:a="http://schemas.openxmlformats.org/drawingml/2006/main" prst="straightConnector1">
            <a:avLst/>
          </a:prstGeom>
          <a:ln xmlns:a="http://schemas.openxmlformats.org/drawingml/2006/main" w="14288">
            <a:solidFill>
              <a:srgbClr val="B9B7B1"/>
            </a:solidFill>
            <a:tailEnd type="arrow" w="med" len="med"/>
          </a:ln>
        </p:spPr>
      </p:cxnSp>
      <p:sp>
        <p:nvSpPr>
          <p:cNvPr id="12" name="text-96">
            <a:extLst xmlns:a="http://schemas.openxmlformats.org/drawingml/2006/main">
              <a:ext uri="{FF2B5EF4-FFF2-40B4-BE49-F238E27FC236}">
                <a16:creationId xmlns:a16="http://schemas.microsoft.com/office/drawing/2014/main" id="{2B22D920-A4F4-4CE8-88CB-86D51469ED84}"/>
              </a:ext>
            </a:extLst>
          </p:cNvPr>
          <p:cNvSpPr>
            <a:spLocks xmlns:a="http://schemas.openxmlformats.org/drawingml/2006/main" noGrp="1"/>
          </p:cNvSpPr>
          <p:nvPr/>
        </p:nvSpPr>
        <p:spPr>
          <a:xfrm xmlns:a="http://schemas.openxmlformats.org/drawingml/2006/main">
            <a:off x="457200" y="48196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Real HTTP receipts. Real decryption.</a:t>
            </a:r>
          </a:p>
          <a:p xmlns:a="http://schemas.openxmlformats.org/drawingml/2006/main">
            <a:pPr>
              <a:defRPr sz="2850">
                <a:solidFill>
                  <a:srgbClr val="F2F0EA"/>
                </a:solidFill>
                <a:latin typeface="Instrument Sans"/>
                <a:ea typeface="Instrument Sans"/>
                <a:cs typeface="Instrument Sans"/>
              </a:defRPr>
            </a:pPr>
            <a:r>
              <a:rPr sz="2850">
                <a:solidFill>
                  <a:srgbClr val="F2F0EA"/>
                </a:solidFill>
                <a:latin typeface="Instrument Sans"/>
                <a:ea typeface="Instrument Sans"/>
                <a:cs typeface="Instrument Sans"/>
              </a:rPr>
              <a:t>Failures stay in the record.</a:t>
            </a:r>
          </a:p>
        </p:txBody>
      </p:sp>
      <p:sp>
        <p:nvSpPr>
          <p:cNvPr id="13" name="text-97">
            <a:extLst xmlns:a="http://schemas.openxmlformats.org/drawingml/2006/main">
              <a:ext uri="{FF2B5EF4-FFF2-40B4-BE49-F238E27FC236}">
                <a16:creationId xmlns:a16="http://schemas.microsoft.com/office/drawing/2014/main" id="{64C6B984-67FF-41CD-A98A-2EE5503A0825}"/>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Controls and task completion are reported separately from activation</a:t>
            </a:r>
          </a:p>
        </p:txBody>
      </p:sp>
    </p:spTree>
    <p:extLst>
      <p:ext uri="{BB962C8B-B14F-4D97-AF65-F5344CB8AC3E}">
        <p14:creationId xmlns:p14="http://schemas.microsoft.com/office/powerpoint/2010/main" val="1879856056"/>
      </p:ext>
    </p:extLst>
  </p:cSld>
</p:sld>
</file>

<file path=ppt/slides/slide10.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8" name="text-98">
            <a:extLst xmlns:a="http://schemas.openxmlformats.org/drawingml/2006/main">
              <a:ext uri="{FF2B5EF4-FFF2-40B4-BE49-F238E27FC236}">
                <a16:creationId xmlns:a16="http://schemas.microsoft.com/office/drawing/2014/main" id="{F854AC65-7A80-4972-8691-B9B2C7DF08B3}"/>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99">
            <a:extLst xmlns:a="http://schemas.openxmlformats.org/drawingml/2006/main">
              <a:ext uri="{FF2B5EF4-FFF2-40B4-BE49-F238E27FC236}">
                <a16:creationId xmlns:a16="http://schemas.microsoft.com/office/drawing/2014/main" id="{8B220AF0-CE5E-4E33-8D2E-46F69ABFC7D1}"/>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10  /  2:43–2:50</a:t>
            </a:r>
          </a:p>
        </p:txBody>
      </p:sp>
      <p:sp>
        <p:nvSpPr>
          <p:cNvPr id="3" name="divider-100">
            <a:extLst xmlns:a="http://schemas.openxmlformats.org/drawingml/2006/main">
              <a:ext uri="{FF2B5EF4-FFF2-40B4-BE49-F238E27FC236}">
                <a16:creationId xmlns:a16="http://schemas.microsoft.com/office/drawing/2014/main" id="{5429AE05-3C60-47DD-9286-11F1839C5281}"/>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01">
            <a:extLst xmlns:a="http://schemas.openxmlformats.org/drawingml/2006/main">
              <a:ext uri="{FF2B5EF4-FFF2-40B4-BE49-F238E27FC236}">
                <a16:creationId xmlns:a16="http://schemas.microsoft.com/office/drawing/2014/main" id="{E7550D2A-4E51-4796-88D7-C94DE8A07801}"/>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A message. A situation. An action.</a:t>
            </a:r>
          </a:p>
        </p:txBody>
      </p:sp>
      <p:sp>
        <p:nvSpPr>
          <p:cNvPr id="5" name="text-102">
            <a:extLst xmlns:a="http://schemas.openxmlformats.org/drawingml/2006/main">
              <a:ext uri="{FF2B5EF4-FFF2-40B4-BE49-F238E27FC236}">
                <a16:creationId xmlns:a16="http://schemas.microsoft.com/office/drawing/2014/main" id="{EC54A2B0-9571-4EBF-B86F-3E7F8890F714}"/>
              </a:ext>
            </a:extLst>
          </p:cNvPr>
          <p:cNvSpPr>
            <a:spLocks xmlns:a="http://schemas.openxmlformats.org/drawingml/2006/main" noGrp="1"/>
          </p:cNvSpPr>
          <p:nvPr/>
        </p:nvSpPr>
        <p:spPr>
          <a:xfrm xmlns:a="http://schemas.openxmlformats.org/drawingml/2006/main">
            <a:off x="457200" y="265747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300">
                <a:solidFill>
                  <a:srgbClr val="F2F0EA"/>
                </a:solidFill>
                <a:latin typeface="Instrument Sans"/>
                <a:ea typeface="Instrument Sans"/>
                <a:cs typeface="Instrument Sans"/>
              </a:defRPr>
            </a:pPr>
            <a:r>
              <a:rPr sz="6300">
                <a:solidFill>
                  <a:srgbClr val="F2F0EA"/>
                </a:solidFill>
                <a:latin typeface="Instrument Sans"/>
                <a:ea typeface="Instrument Sans"/>
                <a:cs typeface="Instrument Sans"/>
              </a:rPr>
              <a:t>Project Hale</a:t>
            </a:r>
          </a:p>
        </p:txBody>
      </p:sp>
      <p:sp>
        <p:nvSpPr>
          <p:cNvPr id="6" name="text-103">
            <a:extLst xmlns:a="http://schemas.openxmlformats.org/drawingml/2006/main">
              <a:ext uri="{FF2B5EF4-FFF2-40B4-BE49-F238E27FC236}">
                <a16:creationId xmlns:a16="http://schemas.microsoft.com/office/drawing/2014/main" id="{19A5F2E0-EBAE-46C7-9161-67BE51D59591}"/>
              </a:ext>
            </a:extLst>
          </p:cNvPr>
          <p:cNvSpPr>
            <a:spLocks xmlns:a="http://schemas.openxmlformats.org/drawingml/2006/main" noGrp="1"/>
          </p:cNvSpPr>
          <p:nvPr/>
        </p:nvSpPr>
        <p:spPr>
          <a:xfrm xmlns:a="http://schemas.openxmlformats.org/drawingml/2006/main">
            <a:off x="457200" y="421957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a:solidFill>
                  <a:srgbClr val="F2F0EA"/>
                </a:solidFill>
                <a:latin typeface="Instrument Sans"/>
                <a:ea typeface="Instrument Sans"/>
                <a:cs typeface="Instrument Sans"/>
              </a:defRPr>
            </a:pPr>
            <a:r>
              <a:rPr sz="3150">
                <a:solidFill>
                  <a:srgbClr val="F2F0EA"/>
                </a:solidFill>
                <a:latin typeface="Instrument Sans"/>
                <a:ea typeface="Instrument Sans"/>
                <a:cs typeface="Instrument Sans"/>
              </a:rPr>
              <a:t>For security teams evaluating AI agents</a:t>
            </a:r>
          </a:p>
          <a:p xmlns:a="http://schemas.openxmlformats.org/drawingml/2006/main">
            <a:pPr>
              <a:defRPr sz="3150">
                <a:solidFill>
                  <a:srgbClr val="F2F0EA"/>
                </a:solidFill>
                <a:latin typeface="Instrument Sans"/>
                <a:ea typeface="Instrument Sans"/>
                <a:cs typeface="Instrument Sans"/>
              </a:defRPr>
            </a:pPr>
            <a:r>
              <a:rPr sz="3150">
                <a:solidFill>
                  <a:srgbClr val="F2F0EA"/>
                </a:solidFill>
                <a:latin typeface="Instrument Sans"/>
                <a:ea typeface="Instrument Sans"/>
                <a:cs typeface="Instrument Sans"/>
              </a:rPr>
              <a:t>before deployment.</a:t>
            </a:r>
          </a:p>
        </p:txBody>
      </p:sp>
      <p:sp>
        <p:nvSpPr>
          <p:cNvPr id="7" name="text-104">
            <a:extLst xmlns:a="http://schemas.openxmlformats.org/drawingml/2006/main">
              <a:ext uri="{FF2B5EF4-FFF2-40B4-BE49-F238E27FC236}">
                <a16:creationId xmlns:a16="http://schemas.microsoft.com/office/drawing/2014/main" id="{E61EF889-3ABB-4E5D-9536-E366B4DE1DAB}"/>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Perry Zeng and Nathan Wang</a:t>
            </a:r>
          </a:p>
        </p:txBody>
      </p:sp>
    </p:spTree>
    <p:extLst>
      <p:ext uri="{BB962C8B-B14F-4D97-AF65-F5344CB8AC3E}">
        <p14:creationId xmlns:p14="http://schemas.microsoft.com/office/powerpoint/2010/main" val="1882520532"/>
      </p:ext>
    </p:extLst>
  </p:cSld>
</p:sld>
</file>

<file path=ppt/slides/slide11.xml><?xml version="1.0" encoding="utf-8"?>
<p:sld xmlns:p="http://schemas.openxmlformats.org/presentationml/2006/main">
  <p:cSld>
    <p:bg>
      <p:bgPr>
        <a:solidFill xmlns:a="http://schemas.openxmlformats.org/drawingml/2006/main">
          <a:srgbClr val="0A0A0B"/>
        </a:solidFill>
      </p:bgPr>
    </p:bg>
    <p:spTree>
      <p:nvGrpSpPr>
        <p:cNvPr id="1" name=""/>
        <p:cNvGrpSpPr/>
        <p:nvPr/>
      </p:nvGrpSpPr>
      <p:grpSpPr>
        <a:xfrm xmlns:a="http://schemas.openxmlformats.org/drawingml/2006/main"/>
      </p:grpSpPr>
      <p:sp>
        <p:nvSpPr>
          <p:cNvPr id="7" name="text-105">
            <a:extLst xmlns:a="http://schemas.openxmlformats.org/drawingml/2006/main">
              <a:ext uri="{FF2B5EF4-FFF2-40B4-BE49-F238E27FC236}">
                <a16:creationId xmlns:a16="http://schemas.microsoft.com/office/drawing/2014/main" id="{D0455402-B086-480C-B742-32D565D9E84C}"/>
              </a:ext>
            </a:extLst>
          </p:cNvPr>
          <p:cNvSpPr>
            <a:spLocks xmlns:a="http://schemas.openxmlformats.org/drawingml/2006/main" noGrp="1"/>
          </p:cNvSpPr>
          <p:nvPr/>
        </p:nvSpPr>
        <p:spPr>
          <a:xfrm xmlns:a="http://schemas.openxmlformats.org/drawingml/2006/main">
            <a:off x="457200" y="285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B9B7B1"/>
                </a:solidFill>
                <a:latin typeface="Berkeley Mono"/>
                <a:ea typeface="Berkeley Mono"/>
                <a:cs typeface="Berkeley Mono"/>
              </a:defRPr>
            </a:pPr>
            <a:r>
              <a:rPr sz="1275">
                <a:solidFill>
                  <a:srgbClr val="B9B7B1"/>
                </a:solidFill>
                <a:latin typeface="Berkeley Mono"/>
                <a:ea typeface="Berkeley Mono"/>
                <a:cs typeface="Berkeley Mono"/>
              </a:rPr>
              <a:t>PROJECT HALE</a:t>
            </a:r>
          </a:p>
        </p:txBody>
      </p:sp>
      <p:sp>
        <p:nvSpPr>
          <p:cNvPr id="2" name="text-106">
            <a:extLst xmlns:a="http://schemas.openxmlformats.org/drawingml/2006/main">
              <a:ext uri="{FF2B5EF4-FFF2-40B4-BE49-F238E27FC236}">
                <a16:creationId xmlns:a16="http://schemas.microsoft.com/office/drawing/2014/main" id="{405414E8-3FC3-439C-B82D-028B5EE51FC5}"/>
              </a:ext>
            </a:extLst>
          </p:cNvPr>
          <p:cNvSpPr>
            <a:spLocks xmlns:a="http://schemas.openxmlformats.org/drawingml/2006/main" noGrp="1"/>
          </p:cNvSpPr>
          <p:nvPr/>
        </p:nvSpPr>
        <p:spPr>
          <a:xfrm xmlns:a="http://schemas.openxmlformats.org/drawingml/2006/main">
            <a:off x="8591550" y="285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11  /  BACKUP</a:t>
            </a:r>
          </a:p>
        </p:txBody>
      </p:sp>
      <p:sp>
        <p:nvSpPr>
          <p:cNvPr id="3" name="divider-107">
            <a:extLst xmlns:a="http://schemas.openxmlformats.org/drawingml/2006/main">
              <a:ext uri="{FF2B5EF4-FFF2-40B4-BE49-F238E27FC236}">
                <a16:creationId xmlns:a16="http://schemas.microsoft.com/office/drawing/2014/main" id="{B73542B8-6E23-4C0C-B7D3-625E3D977D84}"/>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242426"/>
          </a:solidFill>
          <a:ln xmlns:a="http://schemas.openxmlformats.org/drawingml/2006/main" w="0">
            <a:noFill/>
          </a:ln>
        </p:spPr>
      </p:sp>
      <p:sp>
        <p:nvSpPr>
          <p:cNvPr id="4" name="text-108">
            <a:extLst xmlns:a="http://schemas.openxmlformats.org/drawingml/2006/main">
              <a:ext uri="{FF2B5EF4-FFF2-40B4-BE49-F238E27FC236}">
                <a16:creationId xmlns:a16="http://schemas.microsoft.com/office/drawing/2014/main" id="{8987550C-E1F3-475D-8F0A-87D78AFD893B}"/>
              </a:ext>
            </a:extLst>
          </p:cNvPr>
          <p:cNvSpPr>
            <a:spLocks xmlns:a="http://schemas.openxmlformats.org/drawingml/2006/main" noGrp="1"/>
          </p:cNvSpPr>
          <p:nvPr/>
        </p:nvSpPr>
        <p:spPr>
          <a:xfrm xmlns:a="http://schemas.openxmlformats.org/drawingml/2006/main">
            <a:off x="457200" y="1066800"/>
            <a:ext cx="11239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a:solidFill>
                  <a:srgbClr val="F2F0EA"/>
                </a:solidFill>
                <a:latin typeface="Instrument Sans"/>
                <a:ea typeface="Instrument Sans"/>
                <a:cs typeface="Instrument Sans"/>
              </a:defRPr>
            </a:pPr>
            <a:r>
              <a:rPr sz="4050">
                <a:solidFill>
                  <a:srgbClr val="F2F0EA"/>
                </a:solidFill>
                <a:latin typeface="Instrument Sans"/>
                <a:ea typeface="Instrument Sans"/>
                <a:cs typeface="Instrument Sans"/>
              </a:rPr>
              <a:t>Further results and limits</a:t>
            </a:r>
          </a:p>
        </p:txBody>
      </p:sp>
      <p:graphicFrame>
        <p:nvGraphicFramePr>
          <p:cNvPr id="11" name=""/>
          <p:cNvGraphicFramePr/>
          <p:nvPr/>
        </p:nvGraphicFramePr>
        <p:xfrm>
          <a:off xmlns:a="http://schemas.openxmlformats.org/drawingml/2006/main" x="457200" y="2286000"/>
          <a:ext xmlns:a="http://schemas.openxmlformats.org/drawingml/2006/main" cx="11277600" cy="3476625"/>
        </p:xfrm>
        <a:graphic xmlns:a="http://schemas.openxmlformats.org/drawingml/2006/main">
          <a:graphicData uri="http://schemas.openxmlformats.org/drawingml/2006/table">
            <a:tbl>
              <a:tblPr/>
              <a:tblGrid>
                <a:gridCol w="3333750"/>
                <a:gridCol w="4000500"/>
                <a:gridCol w="3943350"/>
              </a:tblGrid>
              <a:tr h="695325">
                <a:tc>
                  <a:txBody>
                    <a:bodyPr lIns="152400" tIns="114300" rIns="114300" bIns="114300">
                      <a:noAutofit/>
                    </a:bodyPr>
                    <a:lstStyle/>
                    <a:p>
                      <a:r>
                        <a:rPr sz="1350">
                          <a:solidFill>
                            <a:srgbClr val="8F8F94"/>
                          </a:solidFill>
                          <a:latin typeface="Berkeley Mono"/>
                          <a:ea typeface="Berkeley Mono"/>
                          <a:cs typeface="Berkeley Mono"/>
                        </a:rPr>
                        <a:t>EXPERIMENT</a:t>
                      </a:r>
                    </a:p>
                  </a:txBody>
                  <a:tcPr marL="91440" marR="91440" marT="45720" marB="45720" anchor="ctr">
                    <a:solidFill>
                      <a:srgbClr val="0A0A0B"/>
                    </a:solidFill>
                  </a:tcPr>
                </a:tc>
                <a:tc>
                  <a:txBody>
                    <a:bodyPr lIns="152400" tIns="114300" rIns="114300" bIns="114300">
                      <a:noAutofit/>
                    </a:bodyPr>
                    <a:lstStyle/>
                    <a:p>
                      <a:r>
                        <a:rPr sz="1350">
                          <a:solidFill>
                            <a:srgbClr val="8F8F94"/>
                          </a:solidFill>
                          <a:latin typeface="Berkeley Mono"/>
                          <a:ea typeface="Berkeley Mono"/>
                          <a:cs typeface="Berkeley Mono"/>
                        </a:rPr>
                        <a:t>OBSERVED RESULT</a:t>
                      </a:r>
                    </a:p>
                  </a:txBody>
                  <a:tcPr marL="91440" marR="91440" marT="45720" marB="45720" anchor="ctr">
                    <a:solidFill>
                      <a:srgbClr val="0A0A0B"/>
                    </a:solidFill>
                  </a:tcPr>
                </a:tc>
                <a:tc>
                  <a:txBody>
                    <a:bodyPr lIns="152400" tIns="114300" rIns="114300" bIns="114300">
                      <a:noAutofit/>
                    </a:bodyPr>
                    <a:lstStyle/>
                    <a:p>
                      <a:r>
                        <a:rPr sz="1350">
                          <a:solidFill>
                            <a:srgbClr val="8F8F94"/>
                          </a:solidFill>
                          <a:latin typeface="Berkeley Mono"/>
                          <a:ea typeface="Berkeley Mono"/>
                          <a:cs typeface="Berkeley Mono"/>
                        </a:rPr>
                        <a:t>LIMIT</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Optional GitHub lookup</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410/800 eligible trials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20% target missed</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Marker exposure</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197/197 callbacks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Fixed local callback</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Ownership-check removal</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16/16 triggered flaws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1/16 controls failed</a:t>
                      </a:r>
                    </a:p>
                  </a:txBody>
                  <a:tcPr marL="91440" marR="91440" marT="45720" marB="45720" anchor="ctr">
                    <a:solidFill>
                      <a:srgbClr val="0A0A0B"/>
                    </a:solidFill>
                  </a:tcPr>
                </a:tc>
              </a:tr>
              <a:tr h="695325">
                <a:tc>
                  <a:txBody>
                    <a:bodyPr lIns="152400" tIns="114300" rIns="114300" bIns="114300">
                      <a:noAutofit/>
                    </a:bodyPr>
                    <a:lstStyle/>
                    <a:p>
                      <a:r>
                        <a:rPr sz="1875">
                          <a:solidFill>
                            <a:srgbClr val="F2F0EA"/>
                          </a:solidFill>
                          <a:latin typeface="Instrument Sans"/>
                          <a:ea typeface="Instrument Sans"/>
                          <a:cs typeface="Instrument Sans"/>
                        </a:rPr>
                        <a:t>Encrypted sequence</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25/25 valid test chains</a:t>
                      </a:r>
                    </a:p>
                  </a:txBody>
                  <a:tcPr marL="91440" marR="91440" marT="45720" marB="45720" anchor="ctr">
                    <a:solidFill>
                      <a:srgbClr val="0A0A0B"/>
                    </a:solidFill>
                  </a:tcPr>
                </a:tc>
                <a:tc>
                  <a:txBody>
                    <a:bodyPr lIns="152400" tIns="114300" rIns="114300" bIns="114300">
                      <a:noAutofit/>
                    </a:bodyPr>
                    <a:lstStyle/>
                    <a:p>
                      <a:r>
                        <a:rPr sz="1875">
                          <a:solidFill>
                            <a:srgbClr val="F2F0EA"/>
                          </a:solidFill>
                          <a:latin typeface="Instrument Sans"/>
                          <a:ea typeface="Instrument Sans"/>
                          <a:cs typeface="Instrument Sans"/>
                        </a:rPr>
                        <a:t>One known command</a:t>
                      </a:r>
                    </a:p>
                  </a:txBody>
                  <a:tcPr marL="91440" marR="91440" marT="45720" marB="45720" anchor="ctr">
                    <a:solidFill>
                      <a:srgbClr val="0A0A0B"/>
                    </a:solidFill>
                  </a:tcPr>
                </a:tc>
              </a:tr>
            </a:tbl>
          </a:graphicData>
        </a:graphic>
      </p:graphicFrame>
      <p:sp>
        <p:nvSpPr>
          <p:cNvPr id="6" name="text-109">
            <a:extLst xmlns:a="http://schemas.openxmlformats.org/drawingml/2006/main">
              <a:ext uri="{FF2B5EF4-FFF2-40B4-BE49-F238E27FC236}">
                <a16:creationId xmlns:a16="http://schemas.microsoft.com/office/drawing/2014/main" id="{E989ED08-B89C-411E-8722-70469C6EFFB2}"/>
              </a:ext>
            </a:extLst>
          </p:cNvPr>
          <p:cNvSpPr>
            <a:spLocks xmlns:a="http://schemas.openxmlformats.org/drawingml/2006/main" noGrp="1"/>
          </p:cNvSpPr>
          <p:nvPr/>
        </p:nvSpPr>
        <p:spPr>
          <a:xfrm xmlns:a="http://schemas.openxmlformats.org/drawingml/2006/main">
            <a:off x="457200" y="62960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a:solidFill>
                  <a:srgbClr val="8F8F94"/>
                </a:solidFill>
                <a:latin typeface="Berkeley Mono"/>
                <a:ea typeface="Berkeley Mono"/>
                <a:cs typeface="Berkeley Mono"/>
              </a:defRPr>
            </a:pPr>
            <a:r>
              <a:rPr sz="1275">
                <a:solidFill>
                  <a:srgbClr val="8F8F94"/>
                </a:solidFill>
                <a:latin typeface="Berkeley Mono"/>
                <a:ea typeface="Berkeley Mono"/>
                <a:cs typeface="Berkeley Mono"/>
              </a:rPr>
              <a:t>Separate cohorts / synthetic inputs / no general safety certification</a:t>
            </a:r>
          </a:p>
        </p:txBody>
      </p:sp>
    </p:spTree>
    <p:extLst>
      <p:ext uri="{BB962C8B-B14F-4D97-AF65-F5344CB8AC3E}">
        <p14:creationId xmlns:p14="http://schemas.microsoft.com/office/powerpoint/2010/main" val="15371849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2026-09-06T03:20:13.8920000Z</dcterms:created>
  <dcterms:modified xsi:type="dcterms:W3CDTF">2026-09-06T03:20:13.8920000Z</dcterms:modified>
</coreProperties>
</file>